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watch?v=e7zs-Tap9XY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watch?v=3kDT54Kz9Dc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watch?v=m6zEjDALPqE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watch?v=k0r4vqjXwyU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watch?v=FKvAPQjdp2g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watch?v=pTHZ8hRUwzY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watch?v=PtAxuOAQNcI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watch?v=SiwJ4GJe4xY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watch?v=r2FqQzGNUWg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watch?v=QQylZbgwyMk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watch?v=NwCf1MU1Wqs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watch?v=MFllzKvqnCY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watch?v=21QDrK4fYzk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10972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36208"/>
            <a:ext cx="12191695" cy="54864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31520"/>
            <a:ext cx="566928" cy="566928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315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73152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Howy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8C2D6"/>
                </a:solidFill>
                <a:latin typeface="Calibri"/>
              </a:rPr>
              <a:t>GUÍA PARA EL EQUIPO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106984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Herramientas de IA para video: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fichas, recomendaciones y cómo usarlas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091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C6D3E6"/>
                </a:solidFill>
                <a:latin typeface="Calibri"/>
              </a:rPr>
              <a:t>Qué es cada app · funciones gratis a explotar · cuáles convienen · tutoriales en video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2CD"/>
                </a:solidFill>
                <a:latin typeface="Calibri"/>
              </a:rPr>
              <a:t>Material de capacitación interna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35508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2CD"/>
                </a:solidFill>
                <a:latin typeface="Calibri"/>
              </a:rP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57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D6CDF"/>
                </a:solidFill>
                <a:latin typeface="Calibri"/>
              </a:rPr>
              <a:t>INTRODUCCIÓN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93776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E213A"/>
                </a:solidFill>
                <a:latin typeface="Calibri"/>
              </a:rPr>
              <a:t>Cómo leer esta guía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Guía de herramientas de IA para video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37376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2588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B6674"/>
                </a:solidFill>
                <a:latin typeface="Calibri"/>
              </a:rPr>
              <a:t>Cada herramienta tiene una ficha con lo que es, las funciones gratuitas que conviene aprovechar, para qué caso sirve mejor y un botón con un tutorial en video (clic para abrir).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2402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D6CDF"/>
                </a:solidFill>
                <a:latin typeface="Calibri"/>
              </a:rPr>
              <a:t>ETIQUETAS QUE VERÁS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698601" cy="347472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Gratis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606040"/>
            <a:ext cx="8778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432"/>
                </a:solidFill>
                <a:latin typeface="Calibri"/>
              </a:rPr>
              <a:t>Tiene plan gratuito útil.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64408"/>
            <a:ext cx="1042415" cy="347472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Bajo costo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264408"/>
            <a:ext cx="8778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432"/>
                </a:solidFill>
                <a:latin typeface="Calibri"/>
              </a:rPr>
              <a:t>Planes de pago accesibles.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922776"/>
            <a:ext cx="612647" cy="347472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Fácil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922776"/>
            <a:ext cx="8778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432"/>
                </a:solidFill>
                <a:latin typeface="Calibri"/>
              </a:rPr>
              <a:t>Curva de aprendizaje mínima.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581144"/>
            <a:ext cx="698601" cy="3474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API/IA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581144"/>
            <a:ext cx="8778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432"/>
                </a:solidFill>
                <a:latin typeface="Calibri"/>
              </a:rPr>
              <a:t>Se conecta con IA / se automatiza.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239512"/>
            <a:ext cx="1128369" cy="347472"/>
          </a:xfrm>
          <a:prstGeom prst="roundRect">
            <a:avLst>
              <a:gd name="adj" fmla="val 6000"/>
            </a:avLst>
          </a:prstGeom>
          <a:solidFill>
            <a:srgbClr val="5B6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Profesional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5239512"/>
            <a:ext cx="8778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432"/>
                </a:solidFill>
                <a:latin typeface="Calibri"/>
              </a:rPr>
              <a:t>Potencia de nivel pro.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5943600"/>
            <a:ext cx="10771632" cy="4572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943600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D6CDF"/>
                </a:solidFill>
                <a:latin typeface="Calibri"/>
              </a:rPr>
              <a:t>Tip: </a:t>
            </a:r>
            <a:r>
              <a:rPr sz="1200" b="0" i="0">
                <a:solidFill>
                  <a:srgbClr val="5B6674"/>
                </a:solidFill>
                <a:latin typeface="Calibri"/>
              </a:rPr>
              <a:t>los precios y límites de los planes gratis cambian seguido; confirma en la web oficial antes de contratar.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57200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8C2D6"/>
                </a:solidFill>
                <a:latin typeface="Calibri"/>
              </a:rPr>
              <a:t>EDICIÓN · CATEGORÍA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93776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E213A"/>
                </a:solidFill>
                <a:latin typeface="Calibri"/>
              </a:rPr>
              <a:t>CapCut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Guía de herramientas de IA para video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37376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07008"/>
            <a:ext cx="698601" cy="292608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Gratis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21561" y="1207008"/>
            <a:ext cx="612647" cy="292608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Fácil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3936" y="1207008"/>
            <a:ext cx="1042415" cy="292608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Bajo costo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691640"/>
            <a:ext cx="5074920" cy="28803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1691640"/>
            <a:ext cx="109728" cy="2880360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74519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8C2D6"/>
                </a:solidFill>
                <a:latin typeface="Calibri"/>
              </a:rPr>
              <a:t>QUÉ 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240280"/>
            <a:ext cx="4617720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432"/>
                </a:solidFill>
                <a:latin typeface="Calibri"/>
              </a:rPr>
              <a:t>Editor de video gratuito (móvil y PC) líder para redes sociales. Interfaz simple que permite lograr un video pulido en minutos, sin saber de líneas de tiempo.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691640"/>
            <a:ext cx="54406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874519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7AE60"/>
                </a:solidFill>
                <a:latin typeface="Calibri"/>
              </a:rPr>
              <a:t>FUNCIONES GRATIS A EXPLOTAR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331720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7688" y="2286000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Subtítulos automáticos editables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761488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2715768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Quitar fondo sin croma (IA)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191256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3145536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Plantillas y efectos en tendencia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621024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7688" y="3575304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Texto, música y transiciones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050792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7688" y="4005072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Exportar en 1080p sin marca de agua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736592"/>
            <a:ext cx="10771632" cy="566928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736592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8C2D6"/>
                </a:solidFill>
                <a:latin typeface="Calibri"/>
              </a:rPr>
              <a:t>Ideal para: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Contenido para TikTok / Reels / Shorts y edición rápida del día a día.</a:t>
            </a:r>
          </a:p>
        </p:txBody>
      </p:sp>
      <p:sp>
        <p:nvSpPr>
          <p:cNvPr id="29" name="Rounded Rectangle 28">
            <a:hlinkClick r:id="rId2"/>
          </p:cNvPr>
          <p:cNvSpPr/>
          <p:nvPr/>
        </p:nvSpPr>
        <p:spPr>
          <a:xfrm>
            <a:off x="713232" y="5468112"/>
            <a:ext cx="10771632" cy="566928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hlinkClick r:id="rId2"/>
              </a:rPr>
              <a:t>▶  Ver tutorial en YouTube:  Tutorial CapCut desde cero (principiantes)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572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7AE60"/>
                </a:solidFill>
                <a:latin typeface="Calibri"/>
              </a:rPr>
              <a:t>TODO-EN-UNO · CATEGORÍA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93776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E213A"/>
                </a:solidFill>
                <a:latin typeface="Calibri"/>
              </a:rPr>
              <a:t>Canva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Guía de herramientas de IA para video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37376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07008"/>
            <a:ext cx="698601" cy="292608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Gratis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21561" y="1207008"/>
            <a:ext cx="612647" cy="292608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Fácil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691640"/>
            <a:ext cx="5074920" cy="28803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691640"/>
            <a:ext cx="109728" cy="288036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874519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7AE60"/>
                </a:solidFill>
                <a:latin typeface="Calibri"/>
              </a:rPr>
              <a:t>QUÉ 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40280"/>
            <a:ext cx="4617720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432"/>
                </a:solidFill>
                <a:latin typeface="Calibri"/>
              </a:rPr>
              <a:t>Plataforma de diseño todo-en-uno con editor de video y generador con IA. Ideal para equipos no técnicos que ya usan Canva para diseño de marca.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691640"/>
            <a:ext cx="54406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874519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7AE60"/>
                </a:solidFill>
                <a:latin typeface="Calibri"/>
              </a:rPr>
              <a:t>FUNCIONES GRATIS A EXPLOTAR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331720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7688" y="2286000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Plantillas de video listas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761488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2715768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Generador 'Texto a video' con 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191256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7688" y="3145536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Grabadora de pantalla y cámara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3621024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3575304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Banco de elementos y música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4050792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47688" y="4005072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Subtítulos automáticos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4736592"/>
            <a:ext cx="10771632" cy="566928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736592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8C2D6"/>
                </a:solidFill>
                <a:latin typeface="Calibri"/>
              </a:rPr>
              <a:t>Ideal para: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Piezas sociales, presentaciones animadas y videos de marca sin curva técnica.</a:t>
            </a:r>
          </a:p>
        </p:txBody>
      </p:sp>
      <p:sp>
        <p:nvSpPr>
          <p:cNvPr id="28" name="Rounded Rectangle 27">
            <a:hlinkClick r:id="rId2"/>
          </p:cNvPr>
          <p:cNvSpPr/>
          <p:nvPr/>
        </p:nvSpPr>
        <p:spPr>
          <a:xfrm>
            <a:off x="713232" y="5468112"/>
            <a:ext cx="10771632" cy="566928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hlinkClick r:id="rId2"/>
              </a:rPr>
              <a:t>▶  Ver tutorial en YouTube:  Videos en minutos con IA en Canva (2026)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57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D6CDF"/>
                </a:solidFill>
                <a:latin typeface="Calibri"/>
              </a:rPr>
              <a:t>GENERACIÓN · CATEGORÍA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93776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E213A"/>
                </a:solidFill>
                <a:latin typeface="Calibri"/>
              </a:rPr>
              <a:t>Kling 3.0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Guía de herramientas de IA para video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37376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07008"/>
            <a:ext cx="698601" cy="292608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Gratis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21561" y="1207008"/>
            <a:ext cx="1042415" cy="292608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Bajo costo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73704" y="1207008"/>
            <a:ext cx="698601" cy="292608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API/IA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691640"/>
            <a:ext cx="5074920" cy="28803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1691640"/>
            <a:ext cx="109728" cy="28803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74519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D6CDF"/>
                </a:solidFill>
                <a:latin typeface="Calibri"/>
              </a:rPr>
              <a:t>QUÉ 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240280"/>
            <a:ext cx="4617720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432"/>
                </a:solidFill>
                <a:latin typeface="Calibri"/>
              </a:rPr>
              <a:t>Generador de video con IA (texto o imagen a video) con la mejor relación calidad-precio: 4K, 60 fps, clips de 15 s y lip-sync multilingüe.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691640"/>
            <a:ext cx="54406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874519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7AE60"/>
                </a:solidFill>
                <a:latin typeface="Calibri"/>
              </a:rPr>
              <a:t>FUNCIONES GRATIS A EXPLOTAR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331720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7688" y="2286000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Créditos diarios gratuitos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761488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2715768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Texto a video e imagen a video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191256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3145536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Lip-sync en varios idiomas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621024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7688" y="3575304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Extender / continuar clips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050792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7688" y="4005072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Galería de estilos y plantillas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736592"/>
            <a:ext cx="10771632" cy="566928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736592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8C2D6"/>
                </a:solidFill>
                <a:latin typeface="Calibri"/>
              </a:rPr>
              <a:t>Ideal para: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B-roll, escenas con movimiento y clips cortos de alto impacto a bajo costo.</a:t>
            </a:r>
          </a:p>
        </p:txBody>
      </p:sp>
      <p:sp>
        <p:nvSpPr>
          <p:cNvPr id="29" name="Rounded Rectangle 28">
            <a:hlinkClick r:id="rId2"/>
          </p:cNvPr>
          <p:cNvSpPr/>
          <p:nvPr/>
        </p:nvSpPr>
        <p:spPr>
          <a:xfrm>
            <a:off x="713232" y="5468112"/>
            <a:ext cx="10771632" cy="566928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hlinkClick r:id="rId2"/>
              </a:rPr>
              <a:t>▶  Ver tutorial en YouTube:  Cómo usar Kling AI — videos con IA gratis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57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D6CDF"/>
                </a:solidFill>
                <a:latin typeface="Calibri"/>
              </a:rPr>
              <a:t>GENERACIÓN · CATEGORÍA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93776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E213A"/>
                </a:solidFill>
                <a:latin typeface="Calibri"/>
              </a:rPr>
              <a:t>Google Veo 3.1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Guía de herramientas de IA para video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37376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07008"/>
            <a:ext cx="698601" cy="292608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Gratis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21561" y="1207008"/>
            <a:ext cx="698601" cy="292608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API/IA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29890" y="1207008"/>
            <a:ext cx="1128369" cy="292608"/>
          </a:xfrm>
          <a:prstGeom prst="roundRect">
            <a:avLst>
              <a:gd name="adj" fmla="val 6000"/>
            </a:avLst>
          </a:prstGeom>
          <a:solidFill>
            <a:srgbClr val="5B6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Profesional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691640"/>
            <a:ext cx="5074920" cy="28803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1691640"/>
            <a:ext cx="109728" cy="28803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74519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D6CDF"/>
                </a:solidFill>
                <a:latin typeface="Calibri"/>
              </a:rPr>
              <a:t>QUÉ 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240280"/>
            <a:ext cx="4617720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432"/>
                </a:solidFill>
                <a:latin typeface="Calibri"/>
              </a:rPr>
              <a:t>Modelo de Google con la calidad más alta: 4K real con audio nativo. Accesible desde Gemini, Google AI Studio y la app Flow.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691640"/>
            <a:ext cx="54406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874519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7AE60"/>
                </a:solidFill>
                <a:latin typeface="Calibri"/>
              </a:rPr>
              <a:t>FUNCIONES GRATIS A EXPLOTAR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331720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7688" y="2286000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Cuota gratuita en Gemini / AI Studio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761488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2715768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Audio nativo dentro del video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191256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3145536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Prompts en lenguaje natural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621024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7688" y="3575304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Integración con Flow para escenas largas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050792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7688" y="4005072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Texto a video e imagen a video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736592"/>
            <a:ext cx="10771632" cy="566928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736592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8C2D6"/>
                </a:solidFill>
                <a:latin typeface="Calibri"/>
              </a:rPr>
              <a:t>Ideal para: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Conceptos de marketing realistas y piezas de la más alta calidad.</a:t>
            </a:r>
          </a:p>
        </p:txBody>
      </p:sp>
      <p:sp>
        <p:nvSpPr>
          <p:cNvPr id="29" name="Rounded Rectangle 28">
            <a:hlinkClick r:id="rId2"/>
          </p:cNvPr>
          <p:cNvSpPr/>
          <p:nvPr/>
        </p:nvSpPr>
        <p:spPr>
          <a:xfrm>
            <a:off x="713232" y="5468112"/>
            <a:ext cx="10771632" cy="566928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hlinkClick r:id="rId2"/>
              </a:rPr>
              <a:t>▶  Ver tutorial en YouTube:  Tutorial Google Veo 3.1 en 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57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D6CDF"/>
                </a:solidFill>
                <a:latin typeface="Calibri"/>
              </a:rPr>
              <a:t>GENERACIÓN · CATEGORÍA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93776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E213A"/>
                </a:solidFill>
                <a:latin typeface="Calibri"/>
              </a:rPr>
              <a:t>Runway Gen-4.5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Guía de herramientas de IA para video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37376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07008"/>
            <a:ext cx="698601" cy="292608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Gratis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21561" y="1207008"/>
            <a:ext cx="1042415" cy="292608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Bajo costo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73704" y="1207008"/>
            <a:ext cx="1128369" cy="292608"/>
          </a:xfrm>
          <a:prstGeom prst="roundRect">
            <a:avLst>
              <a:gd name="adj" fmla="val 6000"/>
            </a:avLst>
          </a:prstGeom>
          <a:solidFill>
            <a:srgbClr val="5B6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Profesional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691640"/>
            <a:ext cx="5074920" cy="28803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1691640"/>
            <a:ext cx="109728" cy="28803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74519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D6CDF"/>
                </a:solidFill>
                <a:latin typeface="Calibri"/>
              </a:rPr>
              <a:t>QUÉ 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240280"/>
            <a:ext cx="4617720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432"/>
                </a:solidFill>
                <a:latin typeface="Calibri"/>
              </a:rPr>
              <a:t>Suite creativa profesional con control fino: movimientos de cámara, 'motion brush' y consistencia de personajes/marca entre tomas.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691640"/>
            <a:ext cx="54406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874519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7AE60"/>
                </a:solidFill>
                <a:latin typeface="Calibri"/>
              </a:rPr>
              <a:t>FUNCIONES GRATIS A EXPLOTAR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331720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7688" y="2286000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125 créditos al registrarse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761488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2715768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Texto e imagen a video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191256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3145536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Motion brush (animar zonas)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621024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7688" y="3575304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Herramientas de edición con IA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050792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7688" y="4005072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Quitar fondo y más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736592"/>
            <a:ext cx="10771632" cy="566928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736592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8C2D6"/>
                </a:solidFill>
                <a:latin typeface="Calibri"/>
              </a:rPr>
              <a:t>Ideal para: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Equipos que necesitan control creativo y consistencia de marca.</a:t>
            </a:r>
          </a:p>
        </p:txBody>
      </p:sp>
      <p:sp>
        <p:nvSpPr>
          <p:cNvPr id="29" name="Rounded Rectangle 28">
            <a:hlinkClick r:id="rId2"/>
          </p:cNvPr>
          <p:cNvSpPr/>
          <p:nvPr/>
        </p:nvSpPr>
        <p:spPr>
          <a:xfrm>
            <a:off x="713232" y="5468112"/>
            <a:ext cx="10771632" cy="566928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hlinkClick r:id="rId2"/>
              </a:rPr>
              <a:t>▶  Ver tutorial en YouTube:  Runway para principiantes (tutorial completo)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57200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8C2D6"/>
                </a:solidFill>
                <a:latin typeface="Calibri"/>
              </a:rPr>
              <a:t>EDICIÓN · CATEGORÍA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93776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E213A"/>
                </a:solidFill>
                <a:latin typeface="Calibri"/>
              </a:rPr>
              <a:t>Descript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Guía de herramientas de IA para video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37376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07008"/>
            <a:ext cx="1042415" cy="292608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Bajo costo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65375" y="1207008"/>
            <a:ext cx="698601" cy="292608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API/IA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691640"/>
            <a:ext cx="5074920" cy="28803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691640"/>
            <a:ext cx="109728" cy="2880360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874519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8C2D6"/>
                </a:solidFill>
                <a:latin typeface="Calibri"/>
              </a:rPr>
              <a:t>QUÉ 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40280"/>
            <a:ext cx="4617720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432"/>
                </a:solidFill>
                <a:latin typeface="Calibri"/>
              </a:rPr>
              <a:t>Editor que funciona editando la transcripción: borras texto y se borra el video. El flujo más rápido para contenido hablado.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691640"/>
            <a:ext cx="54406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874519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7AE60"/>
                </a:solidFill>
                <a:latin typeface="Calibri"/>
              </a:rPr>
              <a:t>FUNCIONES GRATIS A EXPLOTAR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331720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7688" y="2286000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Transcripción automática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761488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2715768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Edición por texto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191256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7688" y="3145536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Eliminar muletillas ('eh', 'um')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3621024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3575304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Studio Sound (limpieza de audio)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4050792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47688" y="4005072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Grabación de pantalla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4736592"/>
            <a:ext cx="10771632" cy="566928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736592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8C2D6"/>
                </a:solidFill>
                <a:latin typeface="Calibri"/>
              </a:rPr>
              <a:t>Ideal para: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Podcasts, entrevistas y videos tipo 'talking head'.</a:t>
            </a:r>
          </a:p>
        </p:txBody>
      </p:sp>
      <p:sp>
        <p:nvSpPr>
          <p:cNvPr id="28" name="Rounded Rectangle 27">
            <a:hlinkClick r:id="rId2"/>
          </p:cNvPr>
          <p:cNvSpPr/>
          <p:nvPr/>
        </p:nvSpPr>
        <p:spPr>
          <a:xfrm>
            <a:off x="713232" y="5468112"/>
            <a:ext cx="10771632" cy="566928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hlinkClick r:id="rId2"/>
              </a:rPr>
              <a:t>▶  Ver tutorial en YouTube:  Edita tu primer video con Descript (español)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57200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8C2D6"/>
                </a:solidFill>
                <a:latin typeface="Calibri"/>
              </a:rPr>
              <a:t>EDICIÓN · CATEGORÍA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93776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E213A"/>
                </a:solidFill>
                <a:latin typeface="Calibri"/>
              </a:rPr>
              <a:t>DaVinci Resolve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Guía de herramientas de IA para video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37376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07008"/>
            <a:ext cx="698601" cy="292608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Gratis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21561" y="1207008"/>
            <a:ext cx="1128369" cy="292608"/>
          </a:xfrm>
          <a:prstGeom prst="roundRect">
            <a:avLst>
              <a:gd name="adj" fmla="val 6000"/>
            </a:avLst>
          </a:prstGeom>
          <a:solidFill>
            <a:srgbClr val="5B6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Profesional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691640"/>
            <a:ext cx="5074920" cy="28803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691640"/>
            <a:ext cx="109728" cy="2880360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874519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8C2D6"/>
                </a:solidFill>
                <a:latin typeface="Calibri"/>
              </a:rPr>
              <a:t>QUÉ 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40280"/>
            <a:ext cx="4617720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432"/>
                </a:solidFill>
                <a:latin typeface="Calibri"/>
              </a:rPr>
              <a:t>Edición profesional de escritorio totalmente gratuita. Estándar de cine para edición, color, efectos y audio en un solo programa.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691640"/>
            <a:ext cx="54406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874519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7AE60"/>
                </a:solidFill>
                <a:latin typeface="Calibri"/>
              </a:rPr>
              <a:t>FUNCIONES GRATIS A EXPLOTAR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331720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7688" y="2286000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Edición 4K completa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761488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2715768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Magic Mask (selección con IA)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191256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7688" y="3145536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Reducción de ruido y super scaling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3621024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3575304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Detección de escenas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4050792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47688" y="4005072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Corrección de color profesional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4736592"/>
            <a:ext cx="10771632" cy="566928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736592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8C2D6"/>
                </a:solidFill>
                <a:latin typeface="Calibri"/>
              </a:rPr>
              <a:t>Ideal para: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Producción profesional sin pagar suscripción.</a:t>
            </a:r>
          </a:p>
        </p:txBody>
      </p:sp>
      <p:sp>
        <p:nvSpPr>
          <p:cNvPr id="28" name="Rounded Rectangle 27">
            <a:hlinkClick r:id="rId2"/>
          </p:cNvPr>
          <p:cNvSpPr/>
          <p:nvPr/>
        </p:nvSpPr>
        <p:spPr>
          <a:xfrm>
            <a:off x="713232" y="5468112"/>
            <a:ext cx="10771632" cy="566928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hlinkClick r:id="rId2"/>
              </a:rPr>
              <a:t>▶  Ver tutorial en YouTube:  DaVinci Resolve 19 — tutorial completo (español)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572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5A623"/>
                </a:solidFill>
                <a:latin typeface="Calibri"/>
              </a:rPr>
              <a:t>AVATARES · CATEGORÍA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93776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E213A"/>
                </a:solidFill>
                <a:latin typeface="Calibri"/>
              </a:rPr>
              <a:t>HeyGen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Guía de herramientas de IA para video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37376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07008"/>
            <a:ext cx="698601" cy="292608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Gratis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21561" y="1207008"/>
            <a:ext cx="1042415" cy="292608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Bajo costo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73704" y="1207008"/>
            <a:ext cx="698601" cy="292608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API/IA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691640"/>
            <a:ext cx="5074920" cy="28803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1691640"/>
            <a:ext cx="109728" cy="28803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74519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5A623"/>
                </a:solidFill>
                <a:latin typeface="Calibri"/>
              </a:rPr>
              <a:t>QUÉ 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240280"/>
            <a:ext cx="4617720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432"/>
                </a:solidFill>
                <a:latin typeface="Calibri"/>
              </a:rPr>
              <a:t>Avatares de IA muy expresivos que hablan en 175+ idiomas. Permite crear tu clon digital y traducir videos con lip-sync.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691640"/>
            <a:ext cx="54406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874519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7AE60"/>
                </a:solidFill>
                <a:latin typeface="Calibri"/>
              </a:rPr>
              <a:t>FUNCIONES GRATIS A EXPLOTAR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331720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7688" y="2286000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3 videos al mes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761488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2715768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Avatares de stock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191256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3145536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Texto a voz (TTS)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621024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7688" y="3575304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Traducción de video (demo)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050792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7688" y="4005072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Plantillas listas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736592"/>
            <a:ext cx="10771632" cy="566928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736592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8C2D6"/>
                </a:solidFill>
                <a:latin typeface="Calibri"/>
              </a:rPr>
              <a:t>Ideal para: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Ventas, capacitación y comunicados multilingües sin grabar a cámara.</a:t>
            </a:r>
          </a:p>
        </p:txBody>
      </p:sp>
      <p:sp>
        <p:nvSpPr>
          <p:cNvPr id="29" name="Rounded Rectangle 28">
            <a:hlinkClick r:id="rId2"/>
          </p:cNvPr>
          <p:cNvSpPr/>
          <p:nvPr/>
        </p:nvSpPr>
        <p:spPr>
          <a:xfrm>
            <a:off x="713232" y="5468112"/>
            <a:ext cx="10771632" cy="566928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hlinkClick r:id="rId2"/>
              </a:rPr>
              <a:t>▶  Ver tutorial en YouTube:  Tutorial HeyGen 2026 — videos con avatares de 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572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5A623"/>
                </a:solidFill>
                <a:latin typeface="Calibri"/>
              </a:rPr>
              <a:t>AVATARES · CATEGORÍA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93776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E213A"/>
                </a:solidFill>
                <a:latin typeface="Calibri"/>
              </a:rPr>
              <a:t>Synthesia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Guía de herramientas de IA para video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37376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07008"/>
            <a:ext cx="698601" cy="292608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Gratis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21561" y="1207008"/>
            <a:ext cx="1042415" cy="292608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Bajo costo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73704" y="1207008"/>
            <a:ext cx="698601" cy="292608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API/IA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691640"/>
            <a:ext cx="5074920" cy="28803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1691640"/>
            <a:ext cx="109728" cy="28803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74519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5A623"/>
                </a:solidFill>
                <a:latin typeface="Calibri"/>
              </a:rPr>
              <a:t>QUÉ 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240280"/>
            <a:ext cx="4617720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432"/>
                </a:solidFill>
                <a:latin typeface="Calibri"/>
              </a:rPr>
              <a:t>Plataforma de avatares con IA (240+ avatares, 160+ idiomas) con gran consistencia, pensada para video corporativo y formación.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691640"/>
            <a:ext cx="54406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874519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7AE60"/>
                </a:solidFill>
                <a:latin typeface="Calibri"/>
              </a:rPr>
              <a:t>FUNCIONES GRATIS A EXPLOTAR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331720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7688" y="2286000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Plan gratuito con minutos de prueba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761488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2715768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Avatares y plantillas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191256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3145536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Texto a video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621024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7688" y="3575304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Narración multilingüe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050792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7688" y="4005072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Editor por escenas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736592"/>
            <a:ext cx="10771632" cy="566928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736592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8C2D6"/>
                </a:solidFill>
                <a:latin typeface="Calibri"/>
              </a:rPr>
              <a:t>Ideal para: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Capacitación, onboarding y comunicación interna a escala.</a:t>
            </a:r>
          </a:p>
        </p:txBody>
      </p:sp>
      <p:sp>
        <p:nvSpPr>
          <p:cNvPr id="29" name="Rounded Rectangle 28">
            <a:hlinkClick r:id="rId2"/>
          </p:cNvPr>
          <p:cNvSpPr/>
          <p:nvPr/>
        </p:nvSpPr>
        <p:spPr>
          <a:xfrm>
            <a:off x="713232" y="5468112"/>
            <a:ext cx="10771632" cy="566928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hlinkClick r:id="rId2"/>
              </a:rPr>
              <a:t>▶  Ver tutorial en YouTube:  Synthesia AI — guía completa (español)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572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7AE60"/>
                </a:solidFill>
                <a:latin typeface="Calibri"/>
              </a:rPr>
              <a:t>TODO-EN-UNO · CATEGORÍA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93776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E213A"/>
                </a:solidFill>
                <a:latin typeface="Calibri"/>
              </a:rPr>
              <a:t>Pictory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Guía de herramientas de IA para video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37376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07008"/>
            <a:ext cx="698601" cy="292608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Gratis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21561" y="1207008"/>
            <a:ext cx="612647" cy="292608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Fácil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3936" y="1207008"/>
            <a:ext cx="698601" cy="292608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API/IA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691640"/>
            <a:ext cx="5074920" cy="28803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1691640"/>
            <a:ext cx="109728" cy="288036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74519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7AE60"/>
                </a:solidFill>
                <a:latin typeface="Calibri"/>
              </a:rPr>
              <a:t>QUÉ 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240280"/>
            <a:ext cx="4617720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432"/>
                </a:solidFill>
                <a:latin typeface="Calibri"/>
              </a:rPr>
              <a:t>Convierte un guion o un blog en video automáticamente: selecciona visuales, agrega transiciones y voz en off con 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691640"/>
            <a:ext cx="54406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874519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7AE60"/>
                </a:solidFill>
                <a:latin typeface="Calibri"/>
              </a:rPr>
              <a:t>FUNCIONES GRATIS A EXPLOTAR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331720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7688" y="2286000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10 videos al mes (hasta 2 min)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761488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2715768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Guion a video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191256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3145536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Blog / artículo a video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621024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7688" y="3575304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Voz en off con IA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050792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7688" y="4005072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Subtítulos automáticos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736592"/>
            <a:ext cx="10771632" cy="566928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736592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8C2D6"/>
                </a:solidFill>
                <a:latin typeface="Calibri"/>
              </a:rPr>
              <a:t>Ideal para: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Convertir texto y artículos en videos de forma rápida.</a:t>
            </a:r>
          </a:p>
        </p:txBody>
      </p:sp>
      <p:sp>
        <p:nvSpPr>
          <p:cNvPr id="29" name="Rounded Rectangle 28">
            <a:hlinkClick r:id="rId2"/>
          </p:cNvPr>
          <p:cNvSpPr/>
          <p:nvPr/>
        </p:nvSpPr>
        <p:spPr>
          <a:xfrm>
            <a:off x="713232" y="5468112"/>
            <a:ext cx="10771632" cy="566928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hlinkClick r:id="rId2"/>
              </a:rPr>
              <a:t>▶  Ver tutorial en YouTube:  Cómo usar Pictory AI — tutorial en español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572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7AE60"/>
                </a:solidFill>
                <a:latin typeface="Calibri"/>
              </a:rPr>
              <a:t>TODO-EN-UNO · CATEGORÍA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93776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E213A"/>
                </a:solidFill>
                <a:latin typeface="Calibri"/>
              </a:rPr>
              <a:t>InVideo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Guía de herramientas de IA para video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37376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07008"/>
            <a:ext cx="698601" cy="292608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Gratis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21561" y="1207008"/>
            <a:ext cx="612647" cy="292608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Fácil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3936" y="1207008"/>
            <a:ext cx="698601" cy="292608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API/IA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691640"/>
            <a:ext cx="5074920" cy="28803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1691640"/>
            <a:ext cx="109728" cy="288036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74519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7AE60"/>
                </a:solidFill>
                <a:latin typeface="Calibri"/>
              </a:rPr>
              <a:t>QUÉ 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240280"/>
            <a:ext cx="4617720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432"/>
                </a:solidFill>
                <a:latin typeface="Calibri"/>
              </a:rPr>
              <a:t>Generador de video para marketing: crea videos 1080p desde un solo prompt, con guion, visuales, voz y edición automáticos.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691640"/>
            <a:ext cx="54406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874519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7AE60"/>
                </a:solidFill>
                <a:latin typeface="Calibri"/>
              </a:rPr>
              <a:t>FUNCIONES GRATIS A EXPLOTAR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331720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7688" y="2286000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Minutos de generación semanales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761488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2715768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Prompt a video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191256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3145536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Miles de plantillas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621024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7688" y="3575304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Voz con IA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050792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7688" y="4005072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Banco de stock (con marca de agua)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736592"/>
            <a:ext cx="10771632" cy="566928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736592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8C2D6"/>
                </a:solidFill>
                <a:latin typeface="Calibri"/>
              </a:rPr>
              <a:t>Ideal para: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Videos de producto y marketing para redes sociales.</a:t>
            </a:r>
          </a:p>
        </p:txBody>
      </p:sp>
      <p:sp>
        <p:nvSpPr>
          <p:cNvPr id="29" name="Rounded Rectangle 28">
            <a:hlinkClick r:id="rId2"/>
          </p:cNvPr>
          <p:cNvSpPr/>
          <p:nvPr/>
        </p:nvSpPr>
        <p:spPr>
          <a:xfrm>
            <a:off x="713232" y="5468112"/>
            <a:ext cx="10771632" cy="566928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hlinkClick r:id="rId2"/>
              </a:rPr>
              <a:t>▶  Ver tutorial en YouTube:  Tutorial InVideo AI 2026 (español)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572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7AE60"/>
                </a:solidFill>
                <a:latin typeface="Calibri"/>
              </a:rPr>
              <a:t>TODO-EN-UNO · CATEGORÍA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93776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E213A"/>
                </a:solidFill>
                <a:latin typeface="Calibri"/>
              </a:rPr>
              <a:t>VEED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Guía de herramientas de IA para video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37376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07008"/>
            <a:ext cx="698601" cy="292608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Gratis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21561" y="1207008"/>
            <a:ext cx="612647" cy="292608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Fácil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3936" y="1207008"/>
            <a:ext cx="1042415" cy="292608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Bajo costo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691640"/>
            <a:ext cx="5074920" cy="28803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1691640"/>
            <a:ext cx="109728" cy="288036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74519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7AE60"/>
                </a:solidFill>
                <a:latin typeface="Calibri"/>
              </a:rPr>
              <a:t>QUÉ 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240280"/>
            <a:ext cx="4617720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432"/>
                </a:solidFill>
                <a:latin typeface="Calibri"/>
              </a:rPr>
              <a:t>Editor de video online rápido con subtítulos automáticos y herramientas de IA. Funciona en el navegador, sin instalar nada.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691640"/>
            <a:ext cx="54406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874519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7AE60"/>
                </a:solidFill>
                <a:latin typeface="Calibri"/>
              </a:rPr>
              <a:t>FUNCIONES GRATIS A EXPLOTAR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331720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7688" y="2286000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Subtítulos automáticos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761488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2715768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Recortar y redimensionar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191256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3145536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Quitar fondo y ruido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621024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7688" y="3575304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Grabadora de pantalla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050792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7688" y="4005072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Plantillas (export con marca de agua)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736592"/>
            <a:ext cx="10771632" cy="566928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736592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8C2D6"/>
                </a:solidFill>
                <a:latin typeface="Calibri"/>
              </a:rPr>
              <a:t>Ideal para: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Edición rápida en el navegador para redes y podcasts.</a:t>
            </a:r>
          </a:p>
        </p:txBody>
      </p:sp>
      <p:sp>
        <p:nvSpPr>
          <p:cNvPr id="29" name="Rounded Rectangle 28">
            <a:hlinkClick r:id="rId2"/>
          </p:cNvPr>
          <p:cNvSpPr/>
          <p:nvPr/>
        </p:nvSpPr>
        <p:spPr>
          <a:xfrm>
            <a:off x="713232" y="5468112"/>
            <a:ext cx="10771632" cy="566928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hlinkClick r:id="rId2"/>
              </a:rPr>
              <a:t>▶  Ver tutorial en YouTube:  Cómo usar VEED.io — tutorial en español (2025)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57200"/>
          </a:xfrm>
          <a:prstGeom prst="rect">
            <a:avLst/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213A"/>
                </a:solidFill>
                <a:latin typeface="Calibri"/>
              </a:rPr>
              <a:t>AUTOMATIZACIÓN · CATEGORÍA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93776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E213A"/>
                </a:solidFill>
                <a:latin typeface="Calibri"/>
              </a:rPr>
              <a:t>OpusClip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Guía de herramientas de IA para video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37376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07008"/>
            <a:ext cx="698601" cy="292608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Gratis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21561" y="1207008"/>
            <a:ext cx="698601" cy="292608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API/IA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691640"/>
            <a:ext cx="5074920" cy="28803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691640"/>
            <a:ext cx="109728" cy="2880360"/>
          </a:xfrm>
          <a:prstGeom prst="rect">
            <a:avLst/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874519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213A"/>
                </a:solidFill>
                <a:latin typeface="Calibri"/>
              </a:rPr>
              <a:t>QUÉ 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40280"/>
            <a:ext cx="4617720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432"/>
                </a:solidFill>
                <a:latin typeface="Calibri"/>
              </a:rPr>
              <a:t>Convierte videos largos en clips cortos virales de forma automática, con subtítulos y un 'Virality Score' que prioriza los mejores momentos.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691640"/>
            <a:ext cx="54406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874519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7AE60"/>
                </a:solidFill>
                <a:latin typeface="Calibri"/>
              </a:rPr>
              <a:t>FUNCIONES GRATIS A EXPLOTAR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331720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7688" y="2286000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60 créditos al mes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761488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2715768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Clips automáticos desde video largo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191256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7688" y="3145536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Subtítulos animados con 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3621024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3575304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Reencuadre vertical automático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4050792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47688" y="4005072"/>
            <a:ext cx="4617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32"/>
                </a:solidFill>
                <a:latin typeface="Calibri"/>
              </a:rPr>
              <a:t>(export con marca de agua)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4736592"/>
            <a:ext cx="10771632" cy="566928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736592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8C2D6"/>
                </a:solidFill>
                <a:latin typeface="Calibri"/>
              </a:rPr>
              <a:t>Ideal para: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Reciclar webinars y podcasts en Reels / Shorts / TikToks.</a:t>
            </a:r>
          </a:p>
        </p:txBody>
      </p:sp>
      <p:sp>
        <p:nvSpPr>
          <p:cNvPr id="28" name="Rounded Rectangle 27">
            <a:hlinkClick r:id="rId2"/>
          </p:cNvPr>
          <p:cNvSpPr/>
          <p:nvPr/>
        </p:nvSpPr>
        <p:spPr>
          <a:xfrm>
            <a:off x="713232" y="5468112"/>
            <a:ext cx="10771632" cy="566928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hlinkClick r:id="rId2"/>
              </a:rPr>
              <a:t>▶  Ver tutorial en YouTube:  Cómo usar Opus Clip — tutorial en español (2026)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57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D6CDF"/>
                </a:solidFill>
                <a:latin typeface="Calibri"/>
              </a:rPr>
              <a:t>RECOMENDACIÓN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93776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E213A"/>
                </a:solidFill>
                <a:latin typeface="Calibri"/>
              </a:rPr>
              <a:t>¿Cuáles convienen más?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Guía de herramientas de IA para video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37376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371600"/>
            <a:ext cx="10771632" cy="60350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371600"/>
            <a:ext cx="109728" cy="603504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371600"/>
            <a:ext cx="32918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213A"/>
                </a:solidFill>
                <a:latin typeface="Calibri"/>
              </a:rPr>
              <a:t>Más fácil para empezar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371600"/>
            <a:ext cx="3840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8C2D6"/>
                </a:solidFill>
                <a:latin typeface="Calibri"/>
              </a:rPr>
              <a:t>CapCut · Canva · Pictory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1371600"/>
            <a:ext cx="3154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Resultados pulidos en minutos, sin conocimientos técnicos.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084832"/>
            <a:ext cx="10771632" cy="60350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2084832"/>
            <a:ext cx="109728" cy="60350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084832"/>
            <a:ext cx="32918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213A"/>
                </a:solidFill>
                <a:latin typeface="Calibri"/>
              </a:rPr>
              <a:t>Mejor 100% gratis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084832"/>
            <a:ext cx="3840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7AE60"/>
                </a:solidFill>
                <a:latin typeface="Calibri"/>
              </a:rPr>
              <a:t>DaVinci Resolve · CapCut · Kling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084832"/>
            <a:ext cx="3154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Máxima potencia sin pagar: edición pro y generación con IA.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2798064"/>
            <a:ext cx="10771632" cy="60350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2798064"/>
            <a:ext cx="109728" cy="60350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2798064"/>
            <a:ext cx="32918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213A"/>
                </a:solidFill>
                <a:latin typeface="Calibri"/>
              </a:rPr>
              <a:t>Mejor generación con 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2798064"/>
            <a:ext cx="3840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D6CDF"/>
                </a:solidFill>
                <a:latin typeface="Calibri"/>
              </a:rPr>
              <a:t>Kling (precio) · Veo (calidad) · Runway (control)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2798064"/>
            <a:ext cx="3154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Crear video desde texto/imagen según prioridad.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511296"/>
            <a:ext cx="10771632" cy="60350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" y="3511296"/>
            <a:ext cx="109728" cy="6035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511296"/>
            <a:ext cx="32918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213A"/>
                </a:solidFill>
                <a:latin typeface="Calibri"/>
              </a:rPr>
              <a:t>Mejor para empresa / equipo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3511296"/>
            <a:ext cx="3840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5A623"/>
                </a:solidFill>
                <a:latin typeface="Calibri"/>
              </a:rPr>
              <a:t>HeyGen · Synthesia · InVideo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3511296"/>
            <a:ext cx="3154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Avatares para capacitación y ventas; marketing a escala.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4224528"/>
            <a:ext cx="10771632" cy="60350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3232" y="4224528"/>
            <a:ext cx="109728" cy="603504"/>
          </a:xfrm>
          <a:prstGeom prst="rect">
            <a:avLst/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224528"/>
            <a:ext cx="32918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213A"/>
                </a:solidFill>
                <a:latin typeface="Calibri"/>
              </a:rPr>
              <a:t>Mejor automatización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4224528"/>
            <a:ext cx="3840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213A"/>
                </a:solidFill>
                <a:latin typeface="Calibri"/>
              </a:rPr>
              <a:t>OpusClip · Fliki · Shotstack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9" y="4224528"/>
            <a:ext cx="3154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Clips automáticos y flujos conectados con ChatGPT / API.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" y="5120640"/>
            <a:ext cx="10771632" cy="960120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257800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8C2D6"/>
                </a:solidFill>
                <a:latin typeface="Calibri"/>
              </a:rPr>
              <a:t>TOP 3 PARA EMPEZAR EN HOWY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577840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CapCut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 (edición gratis)  + 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Canva/Pictory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 (guion→video)  + 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HeyGen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 (avatares).  Suma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OpusClip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 para reciclar en clips.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57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D6CDF"/>
                </a:solidFill>
                <a:latin typeface="Calibri"/>
              </a:rPr>
              <a:t>PLAN DE ADOPCIÓN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93776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E213A"/>
                </a:solidFill>
                <a:latin typeface="Calibri"/>
              </a:rPr>
              <a:t>Camino de uso recomendado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Guía de herramientas de IA para video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37376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8016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674"/>
                </a:solidFill>
                <a:latin typeface="Calibri"/>
              </a:rPr>
              <a:t>Un plan progresivo de ~4–6 semanas para que el equipo adopte el video con IA sin fricción.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011680"/>
            <a:ext cx="2606040" cy="3749039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2011680"/>
            <a:ext cx="2606040" cy="868680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21408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FASE 1  ·  Semana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23160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Explorar gratis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145536"/>
            <a:ext cx="310896" cy="310896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4553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6736" y="3108960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432"/>
                </a:solidFill>
                <a:latin typeface="Calibri"/>
              </a:rPr>
              <a:t>Crear cuenta en CapCut y Canva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58768"/>
            <a:ext cx="310896" cy="310896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5876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16736" y="3822192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432"/>
                </a:solidFill>
                <a:latin typeface="Calibri"/>
              </a:rPr>
              <a:t>Editar 1 video social real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572000"/>
            <a:ext cx="310896" cy="310896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6736" y="4535424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432"/>
                </a:solidFill>
                <a:latin typeface="Calibri"/>
              </a:rPr>
              <a:t>Probar subtítulos automáticos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83864" y="2011680"/>
            <a:ext cx="2606040" cy="3749039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83864" y="2011680"/>
            <a:ext cx="2606040" cy="86868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85032" y="2121408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FASE 2  ·  Semana 2-3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85032" y="2423160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Generar con IA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85032" y="3145536"/>
            <a:ext cx="310896" cy="310896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85032" y="314553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87368" y="3108960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432"/>
                </a:solidFill>
                <a:latin typeface="Calibri"/>
              </a:rPr>
              <a:t>Probar Kling (clips/B-roll)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85032" y="3858768"/>
            <a:ext cx="310896" cy="310896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85032" y="385876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87368" y="3822192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432"/>
                </a:solidFill>
                <a:latin typeface="Calibri"/>
              </a:rPr>
              <a:t>Probar Veo desde Gemini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85032" y="4572000"/>
            <a:ext cx="310896" cy="310896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85032" y="457200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87368" y="4535424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432"/>
                </a:solidFill>
                <a:latin typeface="Calibri"/>
              </a:rPr>
              <a:t>Comparar calidad vs. tiempo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54496" y="2011680"/>
            <a:ext cx="2606040" cy="3749039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54496" y="2011680"/>
            <a:ext cx="2606040" cy="8686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55664" y="2121408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FASE 3  ·  Semana 3-4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5664" y="2423160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Avatares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55664" y="3145536"/>
            <a:ext cx="310896" cy="310896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55664" y="314553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3108960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432"/>
                </a:solidFill>
                <a:latin typeface="Calibri"/>
              </a:rPr>
              <a:t>Crear 1 video con HeyGen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55664" y="3858768"/>
            <a:ext cx="310896" cy="310896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55664" y="385876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3822192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432"/>
                </a:solidFill>
                <a:latin typeface="Calibri"/>
              </a:rPr>
              <a:t>Guion de ventas o capacitación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55664" y="4572000"/>
            <a:ext cx="310896" cy="310896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55664" y="457200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4535424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432"/>
                </a:solidFill>
                <a:latin typeface="Calibri"/>
              </a:rPr>
              <a:t>Traducir a otro idioma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25128" y="2011680"/>
            <a:ext cx="2606040" cy="3749039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25128" y="2011680"/>
            <a:ext cx="2606040" cy="86868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26296" y="2121408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FASE 4  ·  Mes 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26296" y="2423160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Escalar / automatizar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26296" y="3145536"/>
            <a:ext cx="310896" cy="310896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26296" y="314553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28632" y="3108960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432"/>
                </a:solidFill>
                <a:latin typeface="Calibri"/>
              </a:rPr>
              <a:t>Reciclar con OpusClip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26296" y="3858768"/>
            <a:ext cx="310896" cy="310896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26296" y="385876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28632" y="3822192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432"/>
                </a:solidFill>
                <a:latin typeface="Calibri"/>
              </a:rPr>
              <a:t>Conectar ChatGPT + API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226296" y="4572000"/>
            <a:ext cx="310896" cy="310896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26296" y="457200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28632" y="4535424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432"/>
                </a:solidFill>
                <a:latin typeface="Calibri"/>
              </a:rPr>
              <a:t>Medir costo por video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28416" y="3474720"/>
            <a:ext cx="1645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5B6674"/>
                </a:solidFill>
                <a:latin typeface="Calibri"/>
              </a:rPr>
              <a:t>›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99048" y="3474720"/>
            <a:ext cx="1645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5B6674"/>
                </a:solidFill>
                <a:latin typeface="Calibri"/>
              </a:rPr>
              <a:t>›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69680" y="3474720"/>
            <a:ext cx="1645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5B6674"/>
                </a:solidFill>
                <a:latin typeface="Calibri"/>
              </a:rPr>
              <a:t>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54864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49240" y="2103120"/>
            <a:ext cx="658368" cy="658368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49240" y="210312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017520"/>
            <a:ext cx="121916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Manos a la obra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C6D3E6"/>
                </a:solidFill>
                <a:latin typeface="Calibri"/>
              </a:rPr>
              <a:t>Elijan 2-3 herramientas de la Fase 1 y hagan su primer video esta semana.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8C2D6"/>
                </a:solidFill>
                <a:latin typeface="Calibri"/>
              </a:rPr>
              <a:t>Howy</a:t>
            </a:r>
            <a:r>
              <a:rPr sz="1200" b="0" i="0">
                <a:solidFill>
                  <a:srgbClr val="9FB2CD"/>
                </a:solidFill>
                <a:latin typeface="Calibri"/>
              </a:rPr>
              <a:t>   ·   Guía de herramientas de IA para video   ·   Junio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