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26480"/>
            <a:ext cx="12191695" cy="109728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36208"/>
            <a:ext cx="12191695" cy="54864"/>
          </a:xfrm>
          <a:prstGeom prst="rect">
            <a:avLst/>
          </a:prstGeom>
          <a:solidFill>
            <a:srgbClr val="18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31520"/>
            <a:ext cx="566928" cy="566928"/>
          </a:xfrm>
          <a:prstGeom prst="roundRect">
            <a:avLst>
              <a:gd name="adj" fmla="val 6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7315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1328" y="731520"/>
            <a:ext cx="4572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Howy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3172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8C2D6"/>
                </a:solidFill>
                <a:latin typeface="Calibri"/>
              </a:rPr>
              <a:t>PRESENTACIÓN EJECUTIVA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43200"/>
            <a:ext cx="1069848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Aplicaciones e IAs para crear,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generar y editar video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61772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i="0">
                <a:solidFill>
                  <a:srgbClr val="C6D3E6"/>
                </a:solidFill>
                <a:latin typeface="Calibri"/>
              </a:rPr>
              <a:t>Soluciones fáciles de usar, gratuitas o de bajo costo, con conexión a 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3550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FB2CD"/>
                </a:solidFill>
                <a:latin typeface="Calibri"/>
              </a:rPr>
              <a:t>Investigación y análisis de mercado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6355080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FB2CD"/>
                </a:solidFill>
                <a:latin typeface="Calibri"/>
              </a:rPr>
              <a:t>Junio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" cy="45720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74320"/>
            <a:ext cx="10515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2D6CDF"/>
                </a:solidFill>
                <a:latin typeface="Calibri"/>
              </a:rPr>
              <a:t>RESUMEN EJECUTIVO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493776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0E213A"/>
                </a:solidFill>
                <a:latin typeface="Calibri"/>
              </a:rPr>
              <a:t>Lo esencial en un vistazo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11183112" cy="15240"/>
          </a:xfrm>
          <a:prstGeom prst="rect">
            <a:avLst/>
          </a:prstGeom>
          <a:solidFill>
            <a:srgbClr val="D9E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37376"/>
            <a:ext cx="5486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2D6CDF"/>
                </a:solidFill>
                <a:latin typeface="Calibri"/>
              </a:rPr>
              <a:t>Howy</a:t>
            </a:r>
            <a:r>
              <a:rPr sz="900" b="0" i="0">
                <a:solidFill>
                  <a:srgbClr val="5B6674"/>
                </a:solidFill>
                <a:latin typeface="Calibri"/>
              </a:rPr>
              <a:t>  ·  Herramientas de IA para video —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37376"/>
            <a:ext cx="914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B6674"/>
                </a:solidFill>
                <a:latin typeface="Calibr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32588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5B6674"/>
                </a:solidFill>
                <a:latin typeface="Calibri"/>
              </a:rPr>
              <a:t>El mercado de video con IA en 2026 está maduro: existen herramientas potentes, fáciles de usar y con planes gratuitos o económicos. Evaluamos más de 15 soluciones en cinco categorías para identificar las de mejor relación valor-costo y mayor capacidad de conexión con IA.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468880"/>
            <a:ext cx="2606040" cy="192024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468880"/>
            <a:ext cx="2606040" cy="82296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724912"/>
            <a:ext cx="22402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2D6CDF"/>
                </a:solidFill>
                <a:latin typeface="Calibri"/>
              </a:rPr>
              <a:t>5</a:t>
            </a:r>
            <a:r>
              <a:rPr sz="1400" b="1" i="0">
                <a:solidFill>
                  <a:srgbClr val="0E213A"/>
                </a:solidFill>
                <a:latin typeface="Calibri"/>
              </a:rPr>
              <a:t>  categorías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429000"/>
            <a:ext cx="220370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B6674"/>
                </a:solidFill>
                <a:latin typeface="Calibri"/>
              </a:rPr>
              <a:t>Generación, edición, avatares,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B6674"/>
                </a:solidFill>
                <a:latin typeface="Calibri"/>
              </a:rPr>
              <a:t>todo-en-uno y automatización.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83864" y="2468880"/>
            <a:ext cx="2606040" cy="192024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83864" y="2468880"/>
            <a:ext cx="2606040" cy="82296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85032" y="2724912"/>
            <a:ext cx="22402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2D6CDF"/>
                </a:solidFill>
                <a:latin typeface="Calibri"/>
              </a:rPr>
              <a:t>15+</a:t>
            </a:r>
            <a:r>
              <a:rPr sz="1400" b="1" i="0">
                <a:solidFill>
                  <a:srgbClr val="0E213A"/>
                </a:solidFill>
                <a:latin typeface="Calibri"/>
              </a:rPr>
              <a:t>  herramientas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85032" y="3429000"/>
            <a:ext cx="220370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B6674"/>
                </a:solidFill>
                <a:latin typeface="Calibri"/>
              </a:rPr>
              <a:t>Analizadas por facilidad,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B6674"/>
                </a:solidFill>
                <a:latin typeface="Calibri"/>
              </a:rPr>
              <a:t>costo y conexión con IA.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54496" y="2468880"/>
            <a:ext cx="2606040" cy="192024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54496" y="2468880"/>
            <a:ext cx="2606040" cy="82296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55664" y="2724912"/>
            <a:ext cx="22402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2D6CDF"/>
                </a:solidFill>
                <a:latin typeface="Calibri"/>
              </a:rPr>
              <a:t>$0</a:t>
            </a:r>
            <a:r>
              <a:rPr sz="1400" b="1" i="0">
                <a:solidFill>
                  <a:srgbClr val="0E213A"/>
                </a:solidFill>
                <a:latin typeface="Calibri"/>
              </a:rPr>
              <a:t>  para empezar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55664" y="3429000"/>
            <a:ext cx="220370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B6674"/>
                </a:solidFill>
                <a:latin typeface="Calibri"/>
              </a:rPr>
              <a:t>Todas tienen plan gratis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B6674"/>
                </a:solidFill>
                <a:latin typeface="Calibri"/>
              </a:rPr>
              <a:t>o de prueba sin tarjeta.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25128" y="2468880"/>
            <a:ext cx="2606040" cy="192024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25128" y="2468880"/>
            <a:ext cx="2606040" cy="82296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26296" y="2724912"/>
            <a:ext cx="22402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2D6CDF"/>
                </a:solidFill>
                <a:latin typeface="Calibri"/>
              </a:rPr>
              <a:t>API</a:t>
            </a:r>
            <a:r>
              <a:rPr sz="1400" b="1" i="0">
                <a:solidFill>
                  <a:srgbClr val="0E213A"/>
                </a:solidFill>
                <a:latin typeface="Calibri"/>
              </a:rPr>
              <a:t>  conectable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26296" y="3429000"/>
            <a:ext cx="220370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B6674"/>
                </a:solidFill>
                <a:latin typeface="Calibri"/>
              </a:rPr>
              <a:t>Integrables con ChatGPT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B6674"/>
                </a:solidFill>
                <a:latin typeface="Calibri"/>
              </a:rPr>
              <a:t>y flujos automatizados.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4800600"/>
            <a:ext cx="10771632" cy="1234440"/>
          </a:xfrm>
          <a:prstGeom prst="roundRect">
            <a:avLst>
              <a:gd name="adj" fmla="val 6000"/>
            </a:avLst>
          </a:prstGeom>
          <a:solidFill>
            <a:srgbClr val="0E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4983480"/>
            <a:ext cx="102412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8C2D6"/>
                </a:solidFill>
                <a:latin typeface="Calibri"/>
              </a:rPr>
              <a:t>Recomendación clave:  </a:t>
            </a:r>
            <a:r>
              <a:rPr sz="1450" b="0" i="0">
                <a:solidFill>
                  <a:srgbClr val="FFFFFF"/>
                </a:solidFill>
                <a:latin typeface="Calibri"/>
              </a:rPr>
              <a:t>para empezar sin costo combine </a:t>
            </a:r>
            <a:r>
              <a:rPr sz="1450" b="1" i="0">
                <a:solidFill>
                  <a:srgbClr val="FFFFFF"/>
                </a:solidFill>
                <a:latin typeface="Calibri"/>
              </a:rPr>
              <a:t>CapCut</a:t>
            </a:r>
            <a:r>
              <a:rPr sz="1450" b="0" i="0">
                <a:solidFill>
                  <a:srgbClr val="FFFFFF"/>
                </a:solidFill>
                <a:latin typeface="Calibri"/>
              </a:rPr>
              <a:t> (edición) + </a:t>
            </a:r>
            <a:r>
              <a:rPr sz="1450" b="1" i="0">
                <a:solidFill>
                  <a:srgbClr val="FFFFFF"/>
                </a:solidFill>
                <a:latin typeface="Calibri"/>
              </a:rPr>
              <a:t>Kling 3.0</a:t>
            </a:r>
            <a:r>
              <a:rPr sz="1450" b="0" i="0">
                <a:solidFill>
                  <a:srgbClr val="FFFFFF"/>
                </a:solidFill>
                <a:latin typeface="Calibri"/>
              </a:rPr>
              <a:t> (generación barata) + </a:t>
            </a:r>
            <a:r>
              <a:rPr sz="1450" b="1" i="0">
                <a:solidFill>
                  <a:srgbClr val="FFFFFF"/>
                </a:solidFill>
                <a:latin typeface="Calibri"/>
              </a:rPr>
              <a:t>OpusClip</a:t>
            </a:r>
            <a:r>
              <a:rPr sz="1450" b="0" i="0">
                <a:solidFill>
                  <a:srgbClr val="FFFFFF"/>
                </a:solidFill>
                <a:latin typeface="Calibri"/>
              </a:rPr>
              <a:t> (clips). Para empresa, sume </a:t>
            </a:r>
            <a:r>
              <a:rPr sz="1450" b="1" i="0">
                <a:solidFill>
                  <a:srgbClr val="FFFFFF"/>
                </a:solidFill>
                <a:latin typeface="Calibri"/>
              </a:rPr>
              <a:t>HeyGen/Synthesia</a:t>
            </a:r>
            <a:r>
              <a:rPr sz="1450" b="0" i="0">
                <a:solidFill>
                  <a:srgbClr val="FFFFFF"/>
                </a:solidFill>
                <a:latin typeface="Calibri"/>
              </a:rPr>
              <a:t> e integre todo vía API con ChatGPT.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" cy="45720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74320"/>
            <a:ext cx="10515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2D6CDF"/>
                </a:solidFill>
                <a:latin typeface="Calibri"/>
              </a:rPr>
              <a:t>METODOLOGÍA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493776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0E213A"/>
                </a:solidFill>
                <a:latin typeface="Calibri"/>
              </a:rPr>
              <a:t>Criterios de evaluación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11183112" cy="15240"/>
          </a:xfrm>
          <a:prstGeom prst="rect">
            <a:avLst/>
          </a:prstGeom>
          <a:solidFill>
            <a:srgbClr val="D9E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37376"/>
            <a:ext cx="5486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2D6CDF"/>
                </a:solidFill>
                <a:latin typeface="Calibri"/>
              </a:rPr>
              <a:t>Howy</a:t>
            </a:r>
            <a:r>
              <a:rPr sz="900" b="0" i="0">
                <a:solidFill>
                  <a:srgbClr val="5B6674"/>
                </a:solidFill>
                <a:latin typeface="Calibri"/>
              </a:rPr>
              <a:t>  ·  Herramientas de IA para video —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37376"/>
            <a:ext cx="914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B6674"/>
                </a:solidFill>
                <a:latin typeface="Calibri"/>
              </a:rP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417320"/>
            <a:ext cx="10771632" cy="105156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1417320"/>
            <a:ext cx="109728" cy="1051560"/>
          </a:xfrm>
          <a:prstGeom prst="rect">
            <a:avLst/>
          </a:prstGeom>
          <a:solidFill>
            <a:srgbClr val="18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51560" y="1664208"/>
            <a:ext cx="566928" cy="566928"/>
          </a:xfrm>
          <a:prstGeom prst="roundRect">
            <a:avLst>
              <a:gd name="adj" fmla="val 6000"/>
            </a:avLst>
          </a:prstGeom>
          <a:solidFill>
            <a:srgbClr val="18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1664208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1581912"/>
            <a:ext cx="9326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0E213A"/>
                </a:solidFill>
                <a:latin typeface="Calibri"/>
              </a:rPr>
              <a:t>Facilidad de uso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1965960"/>
            <a:ext cx="9326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B6674"/>
                </a:solidFill>
                <a:latin typeface="Calibri"/>
              </a:rPr>
              <a:t>¿Cualquier persona logra un resultado pulido en minutos, sin curva técnica?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2624328"/>
            <a:ext cx="10771632" cy="105156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3232" y="2624328"/>
            <a:ext cx="109728" cy="105156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51560" y="2871216"/>
            <a:ext cx="566928" cy="566928"/>
          </a:xfrm>
          <a:prstGeom prst="roundRect">
            <a:avLst>
              <a:gd name="adj" fmla="val 6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2871216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2788920"/>
            <a:ext cx="9326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0E213A"/>
                </a:solidFill>
                <a:latin typeface="Calibri"/>
              </a:rPr>
              <a:t>Costo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4519" y="3172968"/>
            <a:ext cx="9326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B6674"/>
                </a:solidFill>
                <a:latin typeface="Calibri"/>
              </a:rPr>
              <a:t>Disponibilidad de plan gratuito y precio de los planes de pago accesibles.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3831336"/>
            <a:ext cx="10771632" cy="105156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3831336"/>
            <a:ext cx="109728" cy="105156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51560" y="4078224"/>
            <a:ext cx="566928" cy="566928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4078224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74519" y="3995928"/>
            <a:ext cx="9326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0E213A"/>
                </a:solidFill>
                <a:latin typeface="Calibri"/>
              </a:rPr>
              <a:t>Conexión con 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74519" y="4379976"/>
            <a:ext cx="9326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B6674"/>
                </a:solidFill>
                <a:latin typeface="Calibri"/>
              </a:rPr>
              <a:t>Integración con ChatGPT, API o flujos automatizados de generación.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" y="5038344"/>
            <a:ext cx="10771632" cy="105156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5038344"/>
            <a:ext cx="109728" cy="105156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51560" y="5285232"/>
            <a:ext cx="566928" cy="566928"/>
          </a:xfrm>
          <a:prstGeom prst="roundRect">
            <a:avLst>
              <a:gd name="adj" fmla="val 6000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" y="528523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74519" y="5202936"/>
            <a:ext cx="9326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0E213A"/>
                </a:solidFill>
                <a:latin typeface="Calibri"/>
              </a:rPr>
              <a:t>Calidad y alcance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74519" y="5586984"/>
            <a:ext cx="9326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B6674"/>
                </a:solidFill>
                <a:latin typeface="Calibri"/>
              </a:rPr>
              <a:t>Resolución, idiomas, duración y consistencia de los resultados.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" cy="45720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74320"/>
            <a:ext cx="10515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2D6CDF"/>
                </a:solidFill>
                <a:latin typeface="Calibri"/>
              </a:rPr>
              <a:t>PANORAMA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493776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0E213A"/>
                </a:solidFill>
                <a:latin typeface="Calibri"/>
              </a:rPr>
              <a:t>El ecosistema en 5 categorías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11183112" cy="15240"/>
          </a:xfrm>
          <a:prstGeom prst="rect">
            <a:avLst/>
          </a:prstGeom>
          <a:solidFill>
            <a:srgbClr val="D9E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37376"/>
            <a:ext cx="5486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2D6CDF"/>
                </a:solidFill>
                <a:latin typeface="Calibri"/>
              </a:rPr>
              <a:t>Howy</a:t>
            </a:r>
            <a:r>
              <a:rPr sz="900" b="0" i="0">
                <a:solidFill>
                  <a:srgbClr val="5B6674"/>
                </a:solidFill>
                <a:latin typeface="Calibri"/>
              </a:rPr>
              <a:t>  ·  Herramientas de IA para video —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37376"/>
            <a:ext cx="914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B6674"/>
                </a:solidFill>
                <a:latin typeface="Calibri"/>
              </a:rP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554480"/>
            <a:ext cx="2103120" cy="420624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1554480"/>
            <a:ext cx="2103120" cy="64008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600200"/>
            <a:ext cx="21031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423160"/>
            <a:ext cx="1773936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E213A"/>
                </a:solidFill>
                <a:latin typeface="Calibri"/>
              </a:rPr>
              <a:t>Generación con 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3246120"/>
            <a:ext cx="177393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B6674"/>
                </a:solidFill>
                <a:latin typeface="Calibri"/>
              </a:rPr>
              <a:t>Texto/imagen → video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78992" y="4023360"/>
            <a:ext cx="1371600" cy="12700"/>
          </a:xfrm>
          <a:prstGeom prst="rect">
            <a:avLst/>
          </a:prstGeom>
          <a:solidFill>
            <a:srgbClr val="D9E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" y="4251960"/>
            <a:ext cx="1773936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D6CDF"/>
                </a:solidFill>
                <a:latin typeface="Calibri"/>
              </a:rPr>
              <a:t>Veo · Kling · Runway · Pika · Luma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26080" y="1554480"/>
            <a:ext cx="2103120" cy="420624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26080" y="1554480"/>
            <a:ext cx="2103120" cy="640080"/>
          </a:xfrm>
          <a:prstGeom prst="rect">
            <a:avLst/>
          </a:prstGeom>
          <a:solidFill>
            <a:srgbClr val="18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26080" y="1600200"/>
            <a:ext cx="21031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90672" y="2423160"/>
            <a:ext cx="1773936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E213A"/>
                </a:solidFill>
                <a:latin typeface="Calibri"/>
              </a:rPr>
              <a:t>Edición con 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90672" y="3246120"/>
            <a:ext cx="177393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B6674"/>
                </a:solidFill>
                <a:latin typeface="Calibri"/>
              </a:rPr>
              <a:t>Cortar, subtítulos, limpiar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91840" y="4023360"/>
            <a:ext cx="1371600" cy="12700"/>
          </a:xfrm>
          <a:prstGeom prst="rect">
            <a:avLst/>
          </a:prstGeom>
          <a:solidFill>
            <a:srgbClr val="D9E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90672" y="4251960"/>
            <a:ext cx="1773936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8C2D6"/>
                </a:solidFill>
                <a:latin typeface="Calibri"/>
              </a:rPr>
              <a:t>CapCut · Descript · DaVinci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138928" y="1554480"/>
            <a:ext cx="2103120" cy="420624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38928" y="1554480"/>
            <a:ext cx="2103120" cy="64008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38928" y="1600200"/>
            <a:ext cx="21031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2423160"/>
            <a:ext cx="1773936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E213A"/>
                </a:solidFill>
                <a:latin typeface="Calibri"/>
              </a:rPr>
              <a:t>Avatares con 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3246120"/>
            <a:ext cx="177393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B6674"/>
                </a:solidFill>
                <a:latin typeface="Calibri"/>
              </a:rPr>
              <a:t>Presentador virtual que habla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504688" y="4023360"/>
            <a:ext cx="1371600" cy="12700"/>
          </a:xfrm>
          <a:prstGeom prst="rect">
            <a:avLst/>
          </a:prstGeom>
          <a:solidFill>
            <a:srgbClr val="D9E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03520" y="4251960"/>
            <a:ext cx="1773936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5A623"/>
                </a:solidFill>
                <a:latin typeface="Calibri"/>
              </a:rPr>
              <a:t>HeyGen · Synthesia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51776" y="1554480"/>
            <a:ext cx="2103120" cy="420624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51776" y="1554480"/>
            <a:ext cx="2103120" cy="64008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51776" y="1600200"/>
            <a:ext cx="21031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16368" y="2423160"/>
            <a:ext cx="1773936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E213A"/>
                </a:solidFill>
                <a:latin typeface="Calibri"/>
              </a:rPr>
              <a:t>Todo-en-uno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16368" y="3246120"/>
            <a:ext cx="177393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B6674"/>
                </a:solidFill>
                <a:latin typeface="Calibri"/>
              </a:rPr>
              <a:t>Guion → video automático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17536" y="4023360"/>
            <a:ext cx="1371600" cy="12700"/>
          </a:xfrm>
          <a:prstGeom prst="rect">
            <a:avLst/>
          </a:prstGeom>
          <a:solidFill>
            <a:srgbClr val="D9E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16368" y="4251960"/>
            <a:ext cx="1773936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7AE60"/>
                </a:solidFill>
                <a:latin typeface="Calibri"/>
              </a:rPr>
              <a:t>Pictory · InVideo · VEED · Canva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564624" y="1554480"/>
            <a:ext cx="2103120" cy="420624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564624" y="1554480"/>
            <a:ext cx="2103120" cy="640080"/>
          </a:xfrm>
          <a:prstGeom prst="rect">
            <a:avLst/>
          </a:prstGeom>
          <a:solidFill>
            <a:srgbClr val="0E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564624" y="1600200"/>
            <a:ext cx="21031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29216" y="2423160"/>
            <a:ext cx="1773936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E213A"/>
                </a:solidFill>
                <a:latin typeface="Calibri"/>
              </a:rPr>
              <a:t>Automatización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29216" y="3246120"/>
            <a:ext cx="177393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B6674"/>
                </a:solidFill>
                <a:latin typeface="Calibri"/>
              </a:rPr>
              <a:t>API y flujos con ChatGPT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930384" y="4023360"/>
            <a:ext cx="1371600" cy="12700"/>
          </a:xfrm>
          <a:prstGeom prst="rect">
            <a:avLst/>
          </a:prstGeom>
          <a:solidFill>
            <a:srgbClr val="D9E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729216" y="4251960"/>
            <a:ext cx="1773936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E213A"/>
                </a:solidFill>
                <a:latin typeface="Calibri"/>
              </a:rPr>
              <a:t>OpusClip · Shotstack · Fliki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" cy="45720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74320"/>
            <a:ext cx="10515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2D6CDF"/>
                </a:solidFill>
                <a:latin typeface="Calibri"/>
              </a:rPr>
              <a:t>CATEGORÍA 01 · GENERACIÓN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493776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0E213A"/>
                </a:solidFill>
                <a:latin typeface="Calibri"/>
              </a:rPr>
              <a:t>Crear video desde texto o imagen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11183112" cy="15240"/>
          </a:xfrm>
          <a:prstGeom prst="rect">
            <a:avLst/>
          </a:prstGeom>
          <a:solidFill>
            <a:srgbClr val="D9E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37376"/>
            <a:ext cx="5486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2D6CDF"/>
                </a:solidFill>
                <a:latin typeface="Calibri"/>
              </a:rPr>
              <a:t>Howy</a:t>
            </a:r>
            <a:r>
              <a:rPr sz="900" b="0" i="0">
                <a:solidFill>
                  <a:srgbClr val="5B6674"/>
                </a:solidFill>
                <a:latin typeface="Calibri"/>
              </a:rPr>
              <a:t>  ·  Herramientas de IA para video —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37376"/>
            <a:ext cx="914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B6674"/>
                </a:solidFill>
                <a:latin typeface="Calibri"/>
              </a:rPr>
              <a:t>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371600"/>
            <a:ext cx="10771632" cy="1026414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1371600"/>
            <a:ext cx="109728" cy="1026414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371600"/>
            <a:ext cx="2788920" cy="102641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0E213A"/>
                </a:solidFill>
                <a:latin typeface="Calibri"/>
              </a:rPr>
              <a:t>Kling 3.0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86200" y="1729359"/>
            <a:ext cx="651052" cy="310896"/>
          </a:xfrm>
          <a:prstGeom prst="roundRect">
            <a:avLst>
              <a:gd name="adj" fmla="val 6000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86200" y="1729359"/>
            <a:ext cx="65105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Gratis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46980" y="1729359"/>
            <a:ext cx="987551" cy="310896"/>
          </a:xfrm>
          <a:prstGeom prst="roundRect">
            <a:avLst>
              <a:gd name="adj" fmla="val 6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6980" y="1729359"/>
            <a:ext cx="987551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Bajo costo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44259" y="1729359"/>
            <a:ext cx="651052" cy="310896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44259" y="1729359"/>
            <a:ext cx="65105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API/IA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1371600"/>
            <a:ext cx="4572000" cy="102641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B6674"/>
                </a:solidFill>
                <a:latin typeface="Calibri"/>
              </a:rPr>
              <a:t>Mejor relación calidad-precio (~$0.10/seg, ~$3 por video). 4K, 60fps, clips de 15s y lip-sync multilingüe. Plan gratis con generaciones diarias limitadas.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2654046"/>
            <a:ext cx="10771632" cy="1026414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13232" y="2654046"/>
            <a:ext cx="109728" cy="1026414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2654046"/>
            <a:ext cx="2788920" cy="102641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0E213A"/>
                </a:solidFill>
                <a:latin typeface="Calibri"/>
              </a:rPr>
              <a:t>Google Veo 3.1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86200" y="3011805"/>
            <a:ext cx="651052" cy="310896"/>
          </a:xfrm>
          <a:prstGeom prst="roundRect">
            <a:avLst>
              <a:gd name="adj" fmla="val 6000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86200" y="3011805"/>
            <a:ext cx="65105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Gratis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46980" y="3011805"/>
            <a:ext cx="651052" cy="310896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46980" y="3011805"/>
            <a:ext cx="65105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API/IA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2654046"/>
            <a:ext cx="4572000" cy="102641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B6674"/>
                </a:solidFill>
                <a:latin typeface="Calibri"/>
              </a:rPr>
              <a:t>La calidad más alta: 4K real con audio nativo. Cuota gratuita vía Google AI Studio; plan AI Pro $19.99/mes. Ideal para conceptos de marketing realistas.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" y="3808476"/>
            <a:ext cx="10771632" cy="1026414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3808476"/>
            <a:ext cx="109728" cy="1026414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1560" y="3808476"/>
            <a:ext cx="2788920" cy="102641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0E213A"/>
                </a:solidFill>
                <a:latin typeface="Calibri"/>
              </a:rPr>
              <a:t>Runway Gen-4.5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886200" y="4166235"/>
            <a:ext cx="651052" cy="310896"/>
          </a:xfrm>
          <a:prstGeom prst="roundRect">
            <a:avLst>
              <a:gd name="adj" fmla="val 6000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86200" y="4166235"/>
            <a:ext cx="65105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Gratis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646980" y="4166235"/>
            <a:ext cx="651052" cy="310896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46980" y="4166235"/>
            <a:ext cx="65105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API/IA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07760" y="4166235"/>
            <a:ext cx="1071676" cy="310896"/>
          </a:xfrm>
          <a:prstGeom prst="roundRect">
            <a:avLst>
              <a:gd name="adj" fmla="val 6000"/>
            </a:avLst>
          </a:prstGeom>
          <a:solidFill>
            <a:srgbClr val="5B66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07760" y="4166235"/>
            <a:ext cx="107167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Profesional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6560" y="3808476"/>
            <a:ext cx="4572000" cy="102641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B6674"/>
                </a:solidFill>
                <a:latin typeface="Calibri"/>
              </a:rPr>
              <a:t>El favorito profesional: control de cámara, motion brush y consistencia de personajes. 125 créditos gratis; plan Standard desde $12-15/mes.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13232" y="4962906"/>
            <a:ext cx="10771632" cy="1026414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13232" y="4962906"/>
            <a:ext cx="109728" cy="1026414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4962906"/>
            <a:ext cx="2788920" cy="102641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0E213A"/>
                </a:solidFill>
                <a:latin typeface="Calibri"/>
              </a:rPr>
              <a:t>Pika &amp; Luma Dream Machine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886200" y="5320665"/>
            <a:ext cx="987551" cy="310896"/>
          </a:xfrm>
          <a:prstGeom prst="roundRect">
            <a:avLst>
              <a:gd name="adj" fmla="val 6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886200" y="5320665"/>
            <a:ext cx="987551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Bajo costo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983479" y="5320665"/>
            <a:ext cx="566928" cy="310896"/>
          </a:xfrm>
          <a:prstGeom prst="roundRect">
            <a:avLst>
              <a:gd name="adj" fmla="val 6000"/>
            </a:avLst>
          </a:prstGeom>
          <a:solidFill>
            <a:srgbClr val="18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983479" y="5320665"/>
            <a:ext cx="56692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Fácil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66560" y="4962906"/>
            <a:ext cx="4572000" cy="102641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B6674"/>
                </a:solidFill>
                <a:latin typeface="Calibri"/>
              </a:rPr>
              <a:t>Alternativas creativas y muy accesibles, con planes de pago desde ~$10/mes. Buenas para experimentar con efectos y estilos.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13232" y="6053328"/>
            <a:ext cx="10771632" cy="384048"/>
          </a:xfrm>
          <a:prstGeom prst="roundRect">
            <a:avLst>
              <a:gd name="adj" fmla="val 6000"/>
            </a:avLst>
          </a:prstGeom>
          <a:solidFill>
            <a:srgbClr val="0E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60120" y="6053328"/>
            <a:ext cx="103327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8C2D6"/>
                </a:solidFill>
                <a:latin typeface="Calibri"/>
              </a:rPr>
              <a:t>» </a:t>
            </a:r>
            <a:r>
              <a:rPr sz="1150" b="0" i="0">
                <a:solidFill>
                  <a:srgbClr val="FFFFFF"/>
                </a:solidFill>
                <a:latin typeface="Calibri"/>
              </a:rPr>
              <a:t>Nota: OpenAI descontinúa la app web de Sora 2 (abr-2026) y su API (sep-2026); evaluar con cautela para proyectos nuevos.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" cy="45720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74320"/>
            <a:ext cx="10515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2D6CDF"/>
                </a:solidFill>
                <a:latin typeface="Calibri"/>
              </a:rPr>
              <a:t>CATEGORÍA 02 · EDICIÓN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493776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0E213A"/>
                </a:solidFill>
                <a:latin typeface="Calibri"/>
              </a:rPr>
              <a:t>Editar y pulir con ayuda de IA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11183112" cy="15240"/>
          </a:xfrm>
          <a:prstGeom prst="rect">
            <a:avLst/>
          </a:prstGeom>
          <a:solidFill>
            <a:srgbClr val="D9E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37376"/>
            <a:ext cx="5486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2D6CDF"/>
                </a:solidFill>
                <a:latin typeface="Calibri"/>
              </a:rPr>
              <a:t>Howy</a:t>
            </a:r>
            <a:r>
              <a:rPr sz="900" b="0" i="0">
                <a:solidFill>
                  <a:srgbClr val="5B6674"/>
                </a:solidFill>
                <a:latin typeface="Calibri"/>
              </a:rPr>
              <a:t>  ·  Herramientas de IA para video —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37376"/>
            <a:ext cx="914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B6674"/>
                </a:solidFill>
                <a:latin typeface="Calibri"/>
              </a:rP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371600"/>
            <a:ext cx="10771632" cy="1083564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1371600"/>
            <a:ext cx="109728" cy="1083564"/>
          </a:xfrm>
          <a:prstGeom prst="rect">
            <a:avLst/>
          </a:prstGeom>
          <a:solidFill>
            <a:srgbClr val="18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371600"/>
            <a:ext cx="2788920" cy="10835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0E213A"/>
                </a:solidFill>
                <a:latin typeface="Calibri"/>
              </a:rPr>
              <a:t>CapCut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86200" y="1757934"/>
            <a:ext cx="651052" cy="310896"/>
          </a:xfrm>
          <a:prstGeom prst="roundRect">
            <a:avLst>
              <a:gd name="adj" fmla="val 6000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86200" y="1757934"/>
            <a:ext cx="65105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Gratis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46980" y="1757934"/>
            <a:ext cx="566928" cy="310896"/>
          </a:xfrm>
          <a:prstGeom prst="roundRect">
            <a:avLst>
              <a:gd name="adj" fmla="val 6000"/>
            </a:avLst>
          </a:prstGeom>
          <a:solidFill>
            <a:srgbClr val="18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6980" y="1757934"/>
            <a:ext cx="56692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Fácil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23636" y="1757934"/>
            <a:ext cx="987551" cy="310896"/>
          </a:xfrm>
          <a:prstGeom prst="roundRect">
            <a:avLst>
              <a:gd name="adj" fmla="val 6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23636" y="1757934"/>
            <a:ext cx="987551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Bajo costo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1371600"/>
            <a:ext cx="4572000" cy="10835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B6674"/>
                </a:solidFill>
                <a:latin typeface="Calibri"/>
              </a:rPr>
              <a:t>El editor más fácil y popular. Versión gratis muy generosa: subtítulos automáticos, quitar fondo sin croma y efectos en tendencia. Pro $7.99/mes.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2711196"/>
            <a:ext cx="10771632" cy="1083564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13232" y="2711196"/>
            <a:ext cx="109728" cy="1083564"/>
          </a:xfrm>
          <a:prstGeom prst="rect">
            <a:avLst/>
          </a:prstGeom>
          <a:solidFill>
            <a:srgbClr val="18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2711196"/>
            <a:ext cx="2788920" cy="10835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0E213A"/>
                </a:solidFill>
                <a:latin typeface="Calibri"/>
              </a:rPr>
              <a:t>Descript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86200" y="3097530"/>
            <a:ext cx="987551" cy="310896"/>
          </a:xfrm>
          <a:prstGeom prst="roundRect">
            <a:avLst>
              <a:gd name="adj" fmla="val 6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86200" y="3097530"/>
            <a:ext cx="987551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Bajo costo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983479" y="3097530"/>
            <a:ext cx="651052" cy="310896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83479" y="3097530"/>
            <a:ext cx="65105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API/IA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2711196"/>
            <a:ext cx="4572000" cy="10835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B6674"/>
                </a:solidFill>
                <a:latin typeface="Calibri"/>
              </a:rPr>
              <a:t>Editas el video editando su transcripción. Asistente de IA 'Underlord' y limpieza de audio 'Studio Sound'. Ideal para podcast y videos hablados. $24/mes.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" y="3922776"/>
            <a:ext cx="10771632" cy="1083564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3922776"/>
            <a:ext cx="109728" cy="1083564"/>
          </a:xfrm>
          <a:prstGeom prst="rect">
            <a:avLst/>
          </a:prstGeom>
          <a:solidFill>
            <a:srgbClr val="18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1560" y="3922776"/>
            <a:ext cx="2788920" cy="10835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0E213A"/>
                </a:solidFill>
                <a:latin typeface="Calibri"/>
              </a:rPr>
              <a:t>DaVinci Resolve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886200" y="4309110"/>
            <a:ext cx="651052" cy="310896"/>
          </a:xfrm>
          <a:prstGeom prst="roundRect">
            <a:avLst>
              <a:gd name="adj" fmla="val 6000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86200" y="4309110"/>
            <a:ext cx="65105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Gratis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646980" y="4309110"/>
            <a:ext cx="1071676" cy="310896"/>
          </a:xfrm>
          <a:prstGeom prst="roundRect">
            <a:avLst>
              <a:gd name="adj" fmla="val 6000"/>
            </a:avLst>
          </a:prstGeom>
          <a:solidFill>
            <a:srgbClr val="5B66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46980" y="4309110"/>
            <a:ext cx="107167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Profesional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3922776"/>
            <a:ext cx="4572000" cy="10835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B6674"/>
                </a:solidFill>
                <a:latin typeface="Calibri"/>
              </a:rPr>
              <a:t>Edición profesional gratuita: 4K y funciones de IA (Magic Mask, reducción de ruido, super scaling, detección de escenas) incluidas en la versión gratis.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13232" y="5134356"/>
            <a:ext cx="10771632" cy="1083564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13232" y="5134356"/>
            <a:ext cx="109728" cy="1083564"/>
          </a:xfrm>
          <a:prstGeom prst="rect">
            <a:avLst/>
          </a:prstGeom>
          <a:solidFill>
            <a:srgbClr val="18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51560" y="5134356"/>
            <a:ext cx="2788920" cy="10835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0E213A"/>
                </a:solidFill>
                <a:latin typeface="Calibri"/>
              </a:rPr>
              <a:t>Adobe Premiere (Firefly)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886200" y="5520690"/>
            <a:ext cx="1071676" cy="310896"/>
          </a:xfrm>
          <a:prstGeom prst="roundRect">
            <a:avLst>
              <a:gd name="adj" fmla="val 6000"/>
            </a:avLst>
          </a:prstGeom>
          <a:solidFill>
            <a:srgbClr val="5B66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886200" y="5520690"/>
            <a:ext cx="107167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Profesional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67604" y="5520690"/>
            <a:ext cx="651052" cy="310896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67604" y="5520690"/>
            <a:ext cx="65105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API/IA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66560" y="5134356"/>
            <a:ext cx="4572000" cy="10835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B6674"/>
                </a:solidFill>
                <a:latin typeface="Calibri"/>
              </a:rPr>
              <a:t>Estándar de la industria con IA generativa Firefly integrada. Para producción profesional con presupuesto y flujos avanzados.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" cy="45720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74320"/>
            <a:ext cx="10515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2D6CDF"/>
                </a:solidFill>
                <a:latin typeface="Calibri"/>
              </a:rPr>
              <a:t>CATEGORÍA 03 · AVATARES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493776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0E213A"/>
                </a:solidFill>
                <a:latin typeface="Calibri"/>
              </a:rPr>
              <a:t>Presentadores virtuales con IA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11183112" cy="15240"/>
          </a:xfrm>
          <a:prstGeom prst="rect">
            <a:avLst/>
          </a:prstGeom>
          <a:solidFill>
            <a:srgbClr val="D9E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37376"/>
            <a:ext cx="5486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2D6CDF"/>
                </a:solidFill>
                <a:latin typeface="Calibri"/>
              </a:rPr>
              <a:t>Howy</a:t>
            </a:r>
            <a:r>
              <a:rPr sz="900" b="0" i="0">
                <a:solidFill>
                  <a:srgbClr val="5B6674"/>
                </a:solidFill>
                <a:latin typeface="Calibri"/>
              </a:rPr>
              <a:t>  ·  Herramientas de IA para video —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37376"/>
            <a:ext cx="914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B6674"/>
                </a:solidFill>
                <a:latin typeface="Calibri"/>
              </a:rPr>
              <a:t>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371600"/>
            <a:ext cx="10771632" cy="1411224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1371600"/>
            <a:ext cx="109728" cy="141122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371600"/>
            <a:ext cx="2788920" cy="14112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0E213A"/>
                </a:solidFill>
                <a:latin typeface="Calibri"/>
              </a:rPr>
              <a:t>HeyGen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86200" y="1921764"/>
            <a:ext cx="651052" cy="310896"/>
          </a:xfrm>
          <a:prstGeom prst="roundRect">
            <a:avLst>
              <a:gd name="adj" fmla="val 6000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86200" y="1921764"/>
            <a:ext cx="65105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Gratis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46980" y="1921764"/>
            <a:ext cx="987551" cy="310896"/>
          </a:xfrm>
          <a:prstGeom prst="roundRect">
            <a:avLst>
              <a:gd name="adj" fmla="val 6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6980" y="1921764"/>
            <a:ext cx="987551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Bajo costo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44259" y="1921764"/>
            <a:ext cx="651052" cy="310896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44259" y="1921764"/>
            <a:ext cx="65105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API/IA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1371600"/>
            <a:ext cx="4572000" cy="14112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B6674"/>
                </a:solidFill>
                <a:latin typeface="Calibri"/>
              </a:rPr>
              <a:t>Avatares muy expresivos (micro-gestos naturales), 100+ avatares y 175+ idiomas con traducción y lip-sync. Plan gratis: 3 videos/mes. Creator $29/mes (~$24 anual).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3038856"/>
            <a:ext cx="10771632" cy="1411224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13232" y="3038856"/>
            <a:ext cx="109728" cy="141122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3038856"/>
            <a:ext cx="2788920" cy="14112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0E213A"/>
                </a:solidFill>
                <a:latin typeface="Calibri"/>
              </a:rPr>
              <a:t>Synthesia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86200" y="3589020"/>
            <a:ext cx="651052" cy="310896"/>
          </a:xfrm>
          <a:prstGeom prst="roundRect">
            <a:avLst>
              <a:gd name="adj" fmla="val 6000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86200" y="3589020"/>
            <a:ext cx="65105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Gratis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46980" y="3589020"/>
            <a:ext cx="987551" cy="310896"/>
          </a:xfrm>
          <a:prstGeom prst="roundRect">
            <a:avLst>
              <a:gd name="adj" fmla="val 6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46980" y="3589020"/>
            <a:ext cx="987551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Bajo costo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744259" y="3589020"/>
            <a:ext cx="651052" cy="310896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44259" y="3589020"/>
            <a:ext cx="65105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API/IA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3038856"/>
            <a:ext cx="4572000" cy="14112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B6674"/>
                </a:solidFill>
                <a:latin typeface="Calibri"/>
              </a:rPr>
              <a:t>240+ avatares y 160+ idiomas, con gran consistencia en videos largos. Plan gratuito disponible; precio más predecible. Starter $29/mes (~$22 anual).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3232" y="4578096"/>
            <a:ext cx="10771632" cy="1411224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13232" y="4578096"/>
            <a:ext cx="109728" cy="141122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1560" y="4578096"/>
            <a:ext cx="2788920" cy="14112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0E213A"/>
                </a:solidFill>
                <a:latin typeface="Calibri"/>
              </a:rPr>
              <a:t>¿Cuál elegir?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886200" y="5128260"/>
            <a:ext cx="566928" cy="310896"/>
          </a:xfrm>
          <a:prstGeom prst="roundRect">
            <a:avLst>
              <a:gd name="adj" fmla="val 6000"/>
            </a:avLst>
          </a:prstGeom>
          <a:solidFill>
            <a:srgbClr val="18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86200" y="5128260"/>
            <a:ext cx="56692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Fácil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4578096"/>
            <a:ext cx="4572000" cy="14112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B6674"/>
                </a:solidFill>
                <a:latin typeface="Calibri"/>
              </a:rPr>
              <a:t>HeyGen destaca en realismo y multilingüe para ventas/redes; Synthesia es más predecible y robusto para capacitación y comunicación interna a escala.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13232" y="6053328"/>
            <a:ext cx="10771632" cy="384048"/>
          </a:xfrm>
          <a:prstGeom prst="roundRect">
            <a:avLst>
              <a:gd name="adj" fmla="val 6000"/>
            </a:avLst>
          </a:prstGeom>
          <a:solidFill>
            <a:srgbClr val="0E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0120" y="6053328"/>
            <a:ext cx="103327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8C2D6"/>
                </a:solidFill>
                <a:latin typeface="Calibri"/>
              </a:rPr>
              <a:t>» </a:t>
            </a:r>
            <a:r>
              <a:rPr sz="1150" b="0" i="0">
                <a:solidFill>
                  <a:srgbClr val="FFFFFF"/>
                </a:solidFill>
                <a:latin typeface="Calibri"/>
              </a:rPr>
              <a:t>Caso de uso típico: capacitación, onboarding, comunicados internos y videos de ventas localizados a varios idiomas sin grabar cámara.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" cy="45720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74320"/>
            <a:ext cx="10515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2D6CDF"/>
                </a:solidFill>
                <a:latin typeface="Calibri"/>
              </a:rPr>
              <a:t>CATEGORÍA 04 · TODO-EN-UNO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493776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0E213A"/>
                </a:solidFill>
                <a:latin typeface="Calibri"/>
              </a:rPr>
              <a:t>De guion a video, sin complicaciones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11183112" cy="15240"/>
          </a:xfrm>
          <a:prstGeom prst="rect">
            <a:avLst/>
          </a:prstGeom>
          <a:solidFill>
            <a:srgbClr val="D9E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37376"/>
            <a:ext cx="5486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2D6CDF"/>
                </a:solidFill>
                <a:latin typeface="Calibri"/>
              </a:rPr>
              <a:t>Howy</a:t>
            </a:r>
            <a:r>
              <a:rPr sz="900" b="0" i="0">
                <a:solidFill>
                  <a:srgbClr val="5B6674"/>
                </a:solidFill>
                <a:latin typeface="Calibri"/>
              </a:rPr>
              <a:t>  ·  Herramientas de IA para video —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37376"/>
            <a:ext cx="914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B6674"/>
                </a:solidFill>
                <a:latin typeface="Calibri"/>
              </a:rPr>
              <a:t>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371600"/>
            <a:ext cx="10771632" cy="1083564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1371600"/>
            <a:ext cx="109728" cy="108356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371600"/>
            <a:ext cx="2788920" cy="10835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0E213A"/>
                </a:solidFill>
                <a:latin typeface="Calibri"/>
              </a:rPr>
              <a:t>Pictory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86200" y="1757934"/>
            <a:ext cx="651052" cy="310896"/>
          </a:xfrm>
          <a:prstGeom prst="roundRect">
            <a:avLst>
              <a:gd name="adj" fmla="val 6000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86200" y="1757934"/>
            <a:ext cx="65105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Gratis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46980" y="1757934"/>
            <a:ext cx="566928" cy="310896"/>
          </a:xfrm>
          <a:prstGeom prst="roundRect">
            <a:avLst>
              <a:gd name="adj" fmla="val 6000"/>
            </a:avLst>
          </a:prstGeom>
          <a:solidFill>
            <a:srgbClr val="18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6980" y="1757934"/>
            <a:ext cx="56692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Fácil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23636" y="1757934"/>
            <a:ext cx="651052" cy="310896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23636" y="1757934"/>
            <a:ext cx="65105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API/IA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1371600"/>
            <a:ext cx="4572000" cy="10835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B6674"/>
                </a:solidFill>
                <a:latin typeface="Calibri"/>
              </a:rPr>
              <a:t>Pega un guion o un blog y genera el video: elige visuales, agrega transiciones y voz en off. Plan gratis: 10 videos/mes (hasta 2 min).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2711196"/>
            <a:ext cx="10771632" cy="1083564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13232" y="2711196"/>
            <a:ext cx="109728" cy="108356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2711196"/>
            <a:ext cx="2788920" cy="10835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0E213A"/>
                </a:solidFill>
                <a:latin typeface="Calibri"/>
              </a:rPr>
              <a:t>InVideo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86200" y="3097530"/>
            <a:ext cx="651052" cy="310896"/>
          </a:xfrm>
          <a:prstGeom prst="roundRect">
            <a:avLst>
              <a:gd name="adj" fmla="val 6000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86200" y="3097530"/>
            <a:ext cx="65105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Gratis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46980" y="3097530"/>
            <a:ext cx="566928" cy="310896"/>
          </a:xfrm>
          <a:prstGeom prst="roundRect">
            <a:avLst>
              <a:gd name="adj" fmla="val 6000"/>
            </a:avLst>
          </a:prstGeom>
          <a:solidFill>
            <a:srgbClr val="18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46980" y="3097530"/>
            <a:ext cx="56692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Fácil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23636" y="3097530"/>
            <a:ext cx="651052" cy="310896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23636" y="3097530"/>
            <a:ext cx="65105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API/IA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2711196"/>
            <a:ext cx="4572000" cy="10835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B6674"/>
                </a:solidFill>
                <a:latin typeface="Calibri"/>
              </a:rPr>
              <a:t>El mejor para marketing en redes: video 1080p desde un prompt + datos del producto. Free: 2 min/exportaciones con marca de agua; pago desde ~$28/mes.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3232" y="3922776"/>
            <a:ext cx="10771632" cy="1083564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13232" y="3922776"/>
            <a:ext cx="109728" cy="108356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1560" y="3922776"/>
            <a:ext cx="2788920" cy="10835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0E213A"/>
                </a:solidFill>
                <a:latin typeface="Calibri"/>
              </a:rPr>
              <a:t>VEED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886200" y="4309110"/>
            <a:ext cx="651052" cy="310896"/>
          </a:xfrm>
          <a:prstGeom prst="roundRect">
            <a:avLst>
              <a:gd name="adj" fmla="val 6000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86200" y="4309110"/>
            <a:ext cx="65105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Gratis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46980" y="4309110"/>
            <a:ext cx="566928" cy="310896"/>
          </a:xfrm>
          <a:prstGeom prst="roundRect">
            <a:avLst>
              <a:gd name="adj" fmla="val 6000"/>
            </a:avLst>
          </a:prstGeom>
          <a:solidFill>
            <a:srgbClr val="18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46980" y="4309110"/>
            <a:ext cx="56692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Fácil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323636" y="4309110"/>
            <a:ext cx="987551" cy="310896"/>
          </a:xfrm>
          <a:prstGeom prst="roundRect">
            <a:avLst>
              <a:gd name="adj" fmla="val 6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23636" y="4309110"/>
            <a:ext cx="987551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Bajo costo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0" y="3922776"/>
            <a:ext cx="4572000" cy="10835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B6674"/>
                </a:solidFill>
                <a:latin typeface="Calibri"/>
              </a:rPr>
              <a:t>Editor rápido en línea con subtítulos automáticos y efectos de IA. Free con marca de agua; plan Creator $12/mes (quita marca, 1080p).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13232" y="5134356"/>
            <a:ext cx="10771632" cy="1083564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13232" y="5134356"/>
            <a:ext cx="109728" cy="108356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51560" y="5134356"/>
            <a:ext cx="2788920" cy="10835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0E213A"/>
                </a:solidFill>
                <a:latin typeface="Calibri"/>
              </a:rPr>
              <a:t>Canva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886200" y="5520690"/>
            <a:ext cx="651052" cy="310896"/>
          </a:xfrm>
          <a:prstGeom prst="roundRect">
            <a:avLst>
              <a:gd name="adj" fmla="val 6000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886200" y="5520690"/>
            <a:ext cx="65105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Gratis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646980" y="5520690"/>
            <a:ext cx="566928" cy="310896"/>
          </a:xfrm>
          <a:prstGeom prst="roundRect">
            <a:avLst>
              <a:gd name="adj" fmla="val 6000"/>
            </a:avLst>
          </a:prstGeom>
          <a:solidFill>
            <a:srgbClr val="18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646980" y="5520690"/>
            <a:ext cx="56692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Fácil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66560" y="5134356"/>
            <a:ext cx="4572000" cy="10835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B6674"/>
                </a:solidFill>
                <a:latin typeface="Calibri"/>
              </a:rPr>
              <a:t>Plantillas y generador de video con IA, integrado al diseño. Plan gratuito útil para piezas sencillas y sociales; ideal para equipos no técnicos.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" cy="45720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74320"/>
            <a:ext cx="10515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2D6CDF"/>
                </a:solidFill>
                <a:latin typeface="Calibri"/>
              </a:rPr>
              <a:t>CATEGORÍA 05 · AUTOMATIZACIÓN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493776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0E213A"/>
                </a:solidFill>
                <a:latin typeface="Calibri"/>
              </a:rPr>
              <a:t>Conexión con IA y flujos automáticos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11183112" cy="15240"/>
          </a:xfrm>
          <a:prstGeom prst="rect">
            <a:avLst/>
          </a:prstGeom>
          <a:solidFill>
            <a:srgbClr val="D9E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37376"/>
            <a:ext cx="5486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2D6CDF"/>
                </a:solidFill>
                <a:latin typeface="Calibri"/>
              </a:rPr>
              <a:t>Howy</a:t>
            </a:r>
            <a:r>
              <a:rPr sz="900" b="0" i="0">
                <a:solidFill>
                  <a:srgbClr val="5B6674"/>
                </a:solidFill>
                <a:latin typeface="Calibri"/>
              </a:rPr>
              <a:t>  ·  Herramientas de IA para video —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37376"/>
            <a:ext cx="914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B6674"/>
                </a:solidFill>
                <a:latin typeface="Calibri"/>
              </a:rPr>
              <a:t>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371600"/>
            <a:ext cx="10771632" cy="1026414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1371600"/>
            <a:ext cx="109728" cy="1026414"/>
          </a:xfrm>
          <a:prstGeom prst="rect">
            <a:avLst/>
          </a:prstGeom>
          <a:solidFill>
            <a:srgbClr val="0E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371600"/>
            <a:ext cx="2788920" cy="102641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0E213A"/>
                </a:solidFill>
                <a:latin typeface="Calibri"/>
              </a:rPr>
              <a:t>OpusClip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86200" y="1729359"/>
            <a:ext cx="651052" cy="310896"/>
          </a:xfrm>
          <a:prstGeom prst="roundRect">
            <a:avLst>
              <a:gd name="adj" fmla="val 6000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86200" y="1729359"/>
            <a:ext cx="65105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Gratis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46980" y="1729359"/>
            <a:ext cx="651052" cy="310896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6980" y="1729359"/>
            <a:ext cx="65105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API/IA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1371600"/>
            <a:ext cx="4572000" cy="102641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B6674"/>
                </a:solidFill>
                <a:latin typeface="Calibri"/>
              </a:rPr>
              <a:t>Convierte videos largos en clips virales con subtítulos y 'Virality Score'. Free: 60 créditos/mes (con marca de agua). Pro $29/mes; API en plan Business.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" y="2654046"/>
            <a:ext cx="10771632" cy="1026414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13232" y="2654046"/>
            <a:ext cx="109728" cy="1026414"/>
          </a:xfrm>
          <a:prstGeom prst="rect">
            <a:avLst/>
          </a:prstGeom>
          <a:solidFill>
            <a:srgbClr val="0E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2654046"/>
            <a:ext cx="2788920" cy="102641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0E213A"/>
                </a:solidFill>
                <a:latin typeface="Calibri"/>
              </a:rPr>
              <a:t>Shotstack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86200" y="3011805"/>
            <a:ext cx="651052" cy="310896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86200" y="3011805"/>
            <a:ext cx="65105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API/IA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46980" y="3011805"/>
            <a:ext cx="1071676" cy="310896"/>
          </a:xfrm>
          <a:prstGeom prst="roundRect">
            <a:avLst>
              <a:gd name="adj" fmla="val 6000"/>
            </a:avLst>
          </a:prstGeom>
          <a:solidFill>
            <a:srgbClr val="5B66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46980" y="3011805"/>
            <a:ext cx="107167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Profesional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2654046"/>
            <a:ext cx="4572000" cy="102641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B6674"/>
                </a:solidFill>
                <a:latin typeface="Calibri"/>
              </a:rPr>
              <a:t>API de renderizado en la nube: ChatGPT genera el guion → Shotstack corta, transiciona y exporta. Desde $0.20 por minuto renderizado.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2" y="3808476"/>
            <a:ext cx="10771632" cy="1026414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13232" y="3808476"/>
            <a:ext cx="109728" cy="1026414"/>
          </a:xfrm>
          <a:prstGeom prst="rect">
            <a:avLst/>
          </a:prstGeom>
          <a:solidFill>
            <a:srgbClr val="0E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1560" y="3808476"/>
            <a:ext cx="2788920" cy="102641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0E213A"/>
                </a:solidFill>
                <a:latin typeface="Calibri"/>
              </a:rPr>
              <a:t>Fliki (videoGPT)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886200" y="4166235"/>
            <a:ext cx="651052" cy="310896"/>
          </a:xfrm>
          <a:prstGeom prst="roundRect">
            <a:avLst>
              <a:gd name="adj" fmla="val 6000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86200" y="4166235"/>
            <a:ext cx="65105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Gratis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46980" y="4166235"/>
            <a:ext cx="651052" cy="310896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46980" y="4166235"/>
            <a:ext cx="65105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API/IA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07760" y="4166235"/>
            <a:ext cx="566928" cy="310896"/>
          </a:xfrm>
          <a:prstGeom prst="roundRect">
            <a:avLst>
              <a:gd name="adj" fmla="val 6000"/>
            </a:avLst>
          </a:prstGeom>
          <a:solidFill>
            <a:srgbClr val="18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07760" y="4166235"/>
            <a:ext cx="56692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Fácil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3808476"/>
            <a:ext cx="4572000" cy="102641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B6674"/>
                </a:solidFill>
                <a:latin typeface="Calibri"/>
              </a:rPr>
              <a:t>Integra ChatGPT directamente: un Custom GPT en el GPT Store permite generar video sin copiar y pegar. Plan gratuito disponible.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13232" y="4962906"/>
            <a:ext cx="10771632" cy="1026414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13232" y="4962906"/>
            <a:ext cx="109728" cy="1026414"/>
          </a:xfrm>
          <a:prstGeom prst="rect">
            <a:avLst/>
          </a:prstGeom>
          <a:solidFill>
            <a:srgbClr val="0E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51560" y="4962906"/>
            <a:ext cx="2788920" cy="102641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0E213A"/>
                </a:solidFill>
                <a:latin typeface="Calibri"/>
              </a:rPr>
              <a:t>Manus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886200" y="5320665"/>
            <a:ext cx="651052" cy="310896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886200" y="5320665"/>
            <a:ext cx="65105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API/IA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66560" y="4962906"/>
            <a:ext cx="4572000" cy="102641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B6674"/>
                </a:solidFill>
                <a:latin typeface="Calibri"/>
              </a:rPr>
              <a:t>Agente de IA que orquesta varios modelos: del guion a los recursos y al ensamblaje final, gestionando flujos de varios pasos.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13232" y="6053328"/>
            <a:ext cx="10771632" cy="384048"/>
          </a:xfrm>
          <a:prstGeom prst="roundRect">
            <a:avLst>
              <a:gd name="adj" fmla="val 6000"/>
            </a:avLst>
          </a:prstGeom>
          <a:solidFill>
            <a:srgbClr val="0E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60120" y="6053328"/>
            <a:ext cx="103327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8C2D6"/>
                </a:solidFill>
                <a:latin typeface="Calibri"/>
              </a:rPr>
              <a:t>» </a:t>
            </a:r>
            <a:r>
              <a:rPr sz="1150" b="0" i="0">
                <a:solidFill>
                  <a:srgbClr val="FFFFFF"/>
                </a:solidFill>
                <a:latin typeface="Calibri"/>
              </a:rPr>
              <a:t>Para conectar con IA: las APIs de Veo y modelos frontera rondan $0.15–$0.40 por segundo de video generado.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" cy="45720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74320"/>
            <a:ext cx="10515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2D6CDF"/>
                </a:solidFill>
                <a:latin typeface="Calibri"/>
              </a:rPr>
              <a:t>COMPARATIVA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493776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0E213A"/>
                </a:solidFill>
                <a:latin typeface="Calibri"/>
              </a:rPr>
              <a:t>Resumen costo y facilidad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11183112" cy="15240"/>
          </a:xfrm>
          <a:prstGeom prst="rect">
            <a:avLst/>
          </a:prstGeom>
          <a:solidFill>
            <a:srgbClr val="D9E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37376"/>
            <a:ext cx="5486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2D6CDF"/>
                </a:solidFill>
                <a:latin typeface="Calibri"/>
              </a:rPr>
              <a:t>Howy</a:t>
            </a:r>
            <a:r>
              <a:rPr sz="900" b="0" i="0">
                <a:solidFill>
                  <a:srgbClr val="5B6674"/>
                </a:solidFill>
                <a:latin typeface="Calibri"/>
              </a:rPr>
              <a:t>  ·  Herramientas de IA para video —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37376"/>
            <a:ext cx="914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B6674"/>
                </a:solidFill>
                <a:latin typeface="Calibri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325880"/>
            <a:ext cx="10771632" cy="475488"/>
          </a:xfrm>
          <a:prstGeom prst="roundRect">
            <a:avLst>
              <a:gd name="adj" fmla="val 6000"/>
            </a:avLst>
          </a:prstGeom>
          <a:solidFill>
            <a:srgbClr val="0E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325880"/>
            <a:ext cx="21488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Herramienta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80" y="1325880"/>
            <a:ext cx="169163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Categoría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199" y="1325880"/>
            <a:ext cx="17373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Plan gratis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39" y="1325880"/>
            <a:ext cx="15087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Pago desde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41079" y="1325880"/>
            <a:ext cx="13258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Facilidad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49839" y="1325880"/>
            <a:ext cx="1261872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IA / API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" y="1801368"/>
            <a:ext cx="10771632" cy="4709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1801368"/>
            <a:ext cx="2148840" cy="4709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E213A"/>
                </a:solidFill>
                <a:latin typeface="Calibri"/>
              </a:rPr>
              <a:t>CapCut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54680" y="1801368"/>
            <a:ext cx="1691639" cy="4709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B6674"/>
                </a:solidFill>
                <a:latin typeface="Calibri"/>
              </a:rPr>
              <a:t>Edición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199" y="1801368"/>
            <a:ext cx="1737360" cy="4709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B6674"/>
                </a:solidFill>
                <a:latin typeface="Calibri"/>
              </a:rPr>
              <a:t>Sí (generoso)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39" y="1801368"/>
            <a:ext cx="1508760" cy="4709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B6674"/>
                </a:solidFill>
                <a:latin typeface="Calibri"/>
              </a:rPr>
              <a:t>$7.99/mes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41079" y="1801368"/>
            <a:ext cx="1325880" cy="4709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B6674"/>
                </a:solidFill>
                <a:latin typeface="Calibri"/>
              </a:rPr>
              <a:t>Muy alta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49839" y="1801368"/>
            <a:ext cx="1261872" cy="4709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B6674"/>
                </a:solidFill>
                <a:latin typeface="Calibri"/>
              </a:rPr>
              <a:t>Sí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3232" y="2272284"/>
            <a:ext cx="10771632" cy="470916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2272284"/>
            <a:ext cx="2148840" cy="4709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E213A"/>
                </a:solidFill>
                <a:latin typeface="Calibri"/>
              </a:rPr>
              <a:t>Kling 3.0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54680" y="2272284"/>
            <a:ext cx="1691639" cy="4709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B6674"/>
                </a:solidFill>
                <a:latin typeface="Calibri"/>
              </a:rPr>
              <a:t>Generación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199" y="2272284"/>
            <a:ext cx="1737360" cy="4709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B6674"/>
                </a:solidFill>
                <a:latin typeface="Calibri"/>
              </a:rPr>
              <a:t>Sí (limitado)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39" y="2272284"/>
            <a:ext cx="1508760" cy="4709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B6674"/>
                </a:solidFill>
                <a:latin typeface="Calibri"/>
              </a:rPr>
              <a:t>~$3/video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41079" y="2272284"/>
            <a:ext cx="1325880" cy="4709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B6674"/>
                </a:solidFill>
                <a:latin typeface="Calibri"/>
              </a:rPr>
              <a:t>Alta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49839" y="2272284"/>
            <a:ext cx="1261872" cy="4709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B6674"/>
                </a:solidFill>
                <a:latin typeface="Calibri"/>
              </a:rPr>
              <a:t>Sí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3232" y="2743200"/>
            <a:ext cx="10771632" cy="4709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2743200"/>
            <a:ext cx="2148840" cy="4709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E213A"/>
                </a:solidFill>
                <a:latin typeface="Calibri"/>
              </a:rPr>
              <a:t>Google Veo 3.1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54680" y="2743200"/>
            <a:ext cx="1691639" cy="4709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B6674"/>
                </a:solidFill>
                <a:latin typeface="Calibri"/>
              </a:rPr>
              <a:t>Generación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199" y="2743200"/>
            <a:ext cx="1737360" cy="4709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B6674"/>
                </a:solidFill>
                <a:latin typeface="Calibri"/>
              </a:rPr>
              <a:t>Cuota AI Studio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39" y="2743200"/>
            <a:ext cx="1508760" cy="4709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B6674"/>
                </a:solidFill>
                <a:latin typeface="Calibri"/>
              </a:rPr>
              <a:t>$19.99/mes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41079" y="2743200"/>
            <a:ext cx="1325880" cy="4709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B6674"/>
                </a:solidFill>
                <a:latin typeface="Calibri"/>
              </a:rPr>
              <a:t>Media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49839" y="2743200"/>
            <a:ext cx="1261872" cy="4709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B6674"/>
                </a:solidFill>
                <a:latin typeface="Calibri"/>
              </a:rPr>
              <a:t>Sí (API)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13232" y="3214116"/>
            <a:ext cx="10771632" cy="470916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" y="3214116"/>
            <a:ext cx="2148840" cy="4709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E213A"/>
                </a:solidFill>
                <a:latin typeface="Calibri"/>
              </a:rPr>
              <a:t>Runway Gen-4.5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154680" y="3214116"/>
            <a:ext cx="1691639" cy="4709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B6674"/>
                </a:solidFill>
                <a:latin typeface="Calibri"/>
              </a:rPr>
              <a:t>Generación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199" y="3214116"/>
            <a:ext cx="1737360" cy="4709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B6674"/>
                </a:solidFill>
                <a:latin typeface="Calibri"/>
              </a:rPr>
              <a:t>125 créditos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49439" y="3214116"/>
            <a:ext cx="1508760" cy="4709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B6674"/>
                </a:solidFill>
                <a:latin typeface="Calibri"/>
              </a:rPr>
              <a:t>$12-15/mes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41079" y="3214116"/>
            <a:ext cx="1325880" cy="4709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B6674"/>
                </a:solidFill>
                <a:latin typeface="Calibri"/>
              </a:rPr>
              <a:t>Media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49839" y="3214116"/>
            <a:ext cx="1261872" cy="4709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B6674"/>
                </a:solidFill>
                <a:latin typeface="Calibri"/>
              </a:rPr>
              <a:t>Sí (API)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13232" y="3685032"/>
            <a:ext cx="10771632" cy="4709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2960" y="3685032"/>
            <a:ext cx="2148840" cy="4709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E213A"/>
                </a:solidFill>
                <a:latin typeface="Calibri"/>
              </a:rPr>
              <a:t>DaVinci Resolve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154680" y="3685032"/>
            <a:ext cx="1691639" cy="4709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B6674"/>
                </a:solidFill>
                <a:latin typeface="Calibri"/>
              </a:rPr>
              <a:t>Edición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199" y="3685032"/>
            <a:ext cx="1737360" cy="4709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B6674"/>
                </a:solidFill>
                <a:latin typeface="Calibri"/>
              </a:rPr>
              <a:t>Sí (completo)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49439" y="3685032"/>
            <a:ext cx="1508760" cy="4709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B6674"/>
                </a:solidFill>
                <a:latin typeface="Calibri"/>
              </a:rPr>
              <a:t>Pago único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41079" y="3685032"/>
            <a:ext cx="1325880" cy="4709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B6674"/>
                </a:solidFill>
                <a:latin typeface="Calibri"/>
              </a:rPr>
              <a:t>Media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149839" y="3685032"/>
            <a:ext cx="1261872" cy="4709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B6674"/>
                </a:solidFill>
                <a:latin typeface="Calibri"/>
              </a:rPr>
              <a:t>Local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13232" y="4155948"/>
            <a:ext cx="10771632" cy="470916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2960" y="4155948"/>
            <a:ext cx="2148840" cy="4709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E213A"/>
                </a:solidFill>
                <a:latin typeface="Calibri"/>
              </a:rPr>
              <a:t>HeyGen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154680" y="4155948"/>
            <a:ext cx="1691639" cy="4709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B6674"/>
                </a:solidFill>
                <a:latin typeface="Calibri"/>
              </a:rPr>
              <a:t>Avatares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29199" y="4155948"/>
            <a:ext cx="1737360" cy="4709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B6674"/>
                </a:solidFill>
                <a:latin typeface="Calibri"/>
              </a:rPr>
              <a:t>3 videos/mes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949439" y="4155948"/>
            <a:ext cx="1508760" cy="4709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B6674"/>
                </a:solidFill>
                <a:latin typeface="Calibri"/>
              </a:rPr>
              <a:t>$24/mes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641079" y="4155948"/>
            <a:ext cx="1325880" cy="4709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B6674"/>
                </a:solidFill>
                <a:latin typeface="Calibri"/>
              </a:rPr>
              <a:t>Alta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149839" y="4155948"/>
            <a:ext cx="1261872" cy="4709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B6674"/>
                </a:solidFill>
                <a:latin typeface="Calibri"/>
              </a:rPr>
              <a:t>Sí (API)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13232" y="4626864"/>
            <a:ext cx="10771632" cy="4709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22960" y="4626864"/>
            <a:ext cx="2148840" cy="4709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E213A"/>
                </a:solidFill>
                <a:latin typeface="Calibri"/>
              </a:rPr>
              <a:t>Synthesia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154680" y="4626864"/>
            <a:ext cx="1691639" cy="4709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B6674"/>
                </a:solidFill>
                <a:latin typeface="Calibri"/>
              </a:rPr>
              <a:t>Avatares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029199" y="4626864"/>
            <a:ext cx="1737360" cy="4709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B6674"/>
                </a:solidFill>
                <a:latin typeface="Calibri"/>
              </a:rPr>
              <a:t>Sí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949439" y="4626864"/>
            <a:ext cx="1508760" cy="4709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B6674"/>
                </a:solidFill>
                <a:latin typeface="Calibri"/>
              </a:rPr>
              <a:t>$22/mes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641079" y="4626864"/>
            <a:ext cx="1325880" cy="4709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B6674"/>
                </a:solidFill>
                <a:latin typeface="Calibri"/>
              </a:rPr>
              <a:t>Alta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149839" y="4626864"/>
            <a:ext cx="1261872" cy="4709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B6674"/>
                </a:solidFill>
                <a:latin typeface="Calibri"/>
              </a:rPr>
              <a:t>Sí (API)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13232" y="5097780"/>
            <a:ext cx="10771632" cy="470916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22960" y="5097780"/>
            <a:ext cx="2148840" cy="4709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E213A"/>
                </a:solidFill>
                <a:latin typeface="Calibri"/>
              </a:rPr>
              <a:t>Pictory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154680" y="5097780"/>
            <a:ext cx="1691639" cy="4709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B6674"/>
                </a:solidFill>
                <a:latin typeface="Calibri"/>
              </a:rPr>
              <a:t>Todo-en-uno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029199" y="5097780"/>
            <a:ext cx="1737360" cy="4709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B6674"/>
                </a:solidFill>
                <a:latin typeface="Calibri"/>
              </a:rPr>
              <a:t>10 videos/mes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949439" y="5097780"/>
            <a:ext cx="1508760" cy="4709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B6674"/>
                </a:solidFill>
                <a:latin typeface="Calibri"/>
              </a:rPr>
              <a:t>Económico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641079" y="5097780"/>
            <a:ext cx="1325880" cy="4709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B6674"/>
                </a:solidFill>
                <a:latin typeface="Calibri"/>
              </a:rPr>
              <a:t>Muy alta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149839" y="5097780"/>
            <a:ext cx="1261872" cy="4709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B6674"/>
                </a:solidFill>
                <a:latin typeface="Calibri"/>
              </a:rPr>
              <a:t>Sí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13232" y="5568696"/>
            <a:ext cx="10771632" cy="4709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22960" y="5568696"/>
            <a:ext cx="2148840" cy="4709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E213A"/>
                </a:solidFill>
                <a:latin typeface="Calibri"/>
              </a:rPr>
              <a:t>OpusClip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154680" y="5568696"/>
            <a:ext cx="1691639" cy="4709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B6674"/>
                </a:solidFill>
                <a:latin typeface="Calibri"/>
              </a:rPr>
              <a:t>Automatización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029199" y="5568696"/>
            <a:ext cx="1737360" cy="4709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B6674"/>
                </a:solidFill>
                <a:latin typeface="Calibri"/>
              </a:rPr>
              <a:t>60 créditos/mes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949439" y="5568696"/>
            <a:ext cx="1508760" cy="4709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B6674"/>
                </a:solidFill>
                <a:latin typeface="Calibri"/>
              </a:rPr>
              <a:t>$29/mes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641079" y="5568696"/>
            <a:ext cx="1325880" cy="4709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B6674"/>
                </a:solidFill>
                <a:latin typeface="Calibri"/>
              </a:rPr>
              <a:t>Alta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149839" y="5568696"/>
            <a:ext cx="1261872" cy="4709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B6674"/>
                </a:solidFill>
                <a:latin typeface="Calibri"/>
              </a:rPr>
              <a:t>Sí (API)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13232" y="1801368"/>
            <a:ext cx="10771632" cy="4238244"/>
          </a:xfrm>
          <a:prstGeom prst="rect">
            <a:avLst/>
          </a:prstGeom>
          <a:noFill/>
          <a:ln w="12700">
            <a:solidFill>
              <a:srgbClr val="D9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" cy="45720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74320"/>
            <a:ext cx="10515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2D6CDF"/>
                </a:solidFill>
                <a:latin typeface="Calibri"/>
              </a:rPr>
              <a:t>RECOMENDACIONES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493776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0E213A"/>
                </a:solidFill>
                <a:latin typeface="Calibri"/>
              </a:rPr>
              <a:t>El stack ideal según tu perfil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11183112" cy="15240"/>
          </a:xfrm>
          <a:prstGeom prst="rect">
            <a:avLst/>
          </a:prstGeom>
          <a:solidFill>
            <a:srgbClr val="D9E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37376"/>
            <a:ext cx="5486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2D6CDF"/>
                </a:solidFill>
                <a:latin typeface="Calibri"/>
              </a:rPr>
              <a:t>Howy</a:t>
            </a:r>
            <a:r>
              <a:rPr sz="900" b="0" i="0">
                <a:solidFill>
                  <a:srgbClr val="5B6674"/>
                </a:solidFill>
                <a:latin typeface="Calibri"/>
              </a:rPr>
              <a:t>  ·  Herramientas de IA para video —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37376"/>
            <a:ext cx="914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B6674"/>
                </a:solidFill>
                <a:latin typeface="Calibri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417320"/>
            <a:ext cx="5285232" cy="22860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1417320"/>
            <a:ext cx="5285232" cy="64008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" y="1417320"/>
            <a:ext cx="3456432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Creador / Redes sociales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6824" y="1591056"/>
            <a:ext cx="1463040" cy="310896"/>
          </a:xfrm>
          <a:prstGeom prst="roundRect">
            <a:avLst>
              <a:gd name="adj" fmla="val 6000"/>
            </a:avLst>
          </a:prstGeom>
          <a:solidFill>
            <a:srgbClr val="0E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06824" y="1591056"/>
            <a:ext cx="14630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Presupuesto $0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87552" y="2322576"/>
            <a:ext cx="146304" cy="146304"/>
          </a:xfrm>
          <a:prstGeom prst="roundRect">
            <a:avLst>
              <a:gd name="adj" fmla="val 6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0" y="2258568"/>
            <a:ext cx="4462272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A2432"/>
                </a:solidFill>
                <a:latin typeface="Calibri"/>
              </a:rPr>
              <a:t>CapCut — edición gratis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87552" y="2770632"/>
            <a:ext cx="146304" cy="146304"/>
          </a:xfrm>
          <a:prstGeom prst="roundRect">
            <a:avLst>
              <a:gd name="adj" fmla="val 6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2706624"/>
            <a:ext cx="4462272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A2432"/>
                </a:solidFill>
                <a:latin typeface="Calibri"/>
              </a:rPr>
              <a:t>Kling 3.0 — generación barata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87552" y="3218688"/>
            <a:ext cx="146304" cy="146304"/>
          </a:xfrm>
          <a:prstGeom prst="roundRect">
            <a:avLst>
              <a:gd name="adj" fmla="val 6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0" y="3154680"/>
            <a:ext cx="4462272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A2432"/>
                </a:solidFill>
                <a:latin typeface="Calibri"/>
              </a:rPr>
              <a:t>OpusClip — clips virales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9632" y="1417320"/>
            <a:ext cx="5285232" cy="22860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99632" y="1417320"/>
            <a:ext cx="5285232" cy="640080"/>
          </a:xfrm>
          <a:prstGeom prst="rect">
            <a:avLst/>
          </a:prstGeom>
          <a:solidFill>
            <a:srgbClr val="18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1417320"/>
            <a:ext cx="3456432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PyME / Marketing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793224" y="1591056"/>
            <a:ext cx="1463040" cy="310896"/>
          </a:xfrm>
          <a:prstGeom prst="roundRect">
            <a:avLst>
              <a:gd name="adj" fmla="val 6000"/>
            </a:avLst>
          </a:prstGeom>
          <a:solidFill>
            <a:srgbClr val="0E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93224" y="1591056"/>
            <a:ext cx="14630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Bajo costo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73952" y="2322576"/>
            <a:ext cx="146304" cy="146304"/>
          </a:xfrm>
          <a:prstGeom prst="roundRect">
            <a:avLst>
              <a:gd name="adj" fmla="val 6000"/>
            </a:avLst>
          </a:prstGeom>
          <a:solidFill>
            <a:srgbClr val="18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0" y="2258568"/>
            <a:ext cx="4462272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A2432"/>
                </a:solidFill>
                <a:latin typeface="Calibri"/>
              </a:rPr>
              <a:t>InVideo o Pictory — guion→video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73952" y="2770632"/>
            <a:ext cx="146304" cy="146304"/>
          </a:xfrm>
          <a:prstGeom prst="roundRect">
            <a:avLst>
              <a:gd name="adj" fmla="val 6000"/>
            </a:avLst>
          </a:prstGeom>
          <a:solidFill>
            <a:srgbClr val="18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0" y="2706624"/>
            <a:ext cx="4462272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A2432"/>
                </a:solidFill>
                <a:latin typeface="Calibri"/>
              </a:rPr>
              <a:t>HeyGen/Synthesia — avatares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73952" y="3218688"/>
            <a:ext cx="146304" cy="146304"/>
          </a:xfrm>
          <a:prstGeom prst="roundRect">
            <a:avLst>
              <a:gd name="adj" fmla="val 6000"/>
            </a:avLst>
          </a:prstGeom>
          <a:solidFill>
            <a:srgbClr val="18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66560" y="3154680"/>
            <a:ext cx="4462272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A2432"/>
                </a:solidFill>
                <a:latin typeface="Calibri"/>
              </a:rPr>
              <a:t>Runway — piezas de calidad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3232" y="3886200"/>
            <a:ext cx="5285232" cy="22860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3886200"/>
            <a:ext cx="5285232" cy="64008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9264" y="3886200"/>
            <a:ext cx="3456432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Producción profesional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06824" y="4059936"/>
            <a:ext cx="1463040" cy="310896"/>
          </a:xfrm>
          <a:prstGeom prst="roundRect">
            <a:avLst>
              <a:gd name="adj" fmla="val 6000"/>
            </a:avLst>
          </a:prstGeom>
          <a:solidFill>
            <a:srgbClr val="0E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06824" y="4059936"/>
            <a:ext cx="14630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Sin suscripción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87552" y="4791456"/>
            <a:ext cx="146304" cy="146304"/>
          </a:xfrm>
          <a:prstGeom prst="roundRect">
            <a:avLst>
              <a:gd name="adj" fmla="val 6000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4727448"/>
            <a:ext cx="4462272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A2432"/>
                </a:solidFill>
                <a:latin typeface="Calibri"/>
              </a:rPr>
              <a:t>DaVinci Resolve — gratis y pro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87552" y="5239512"/>
            <a:ext cx="146304" cy="146304"/>
          </a:xfrm>
          <a:prstGeom prst="roundRect">
            <a:avLst>
              <a:gd name="adj" fmla="val 6000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80160" y="5175504"/>
            <a:ext cx="4462272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A2432"/>
                </a:solidFill>
                <a:latin typeface="Calibri"/>
              </a:rPr>
              <a:t>Google Veo 3.1 — máxima calidad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87552" y="5687568"/>
            <a:ext cx="146304" cy="146304"/>
          </a:xfrm>
          <a:prstGeom prst="roundRect">
            <a:avLst>
              <a:gd name="adj" fmla="val 6000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80160" y="5623560"/>
            <a:ext cx="4462272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A2432"/>
                </a:solidFill>
                <a:latin typeface="Calibri"/>
              </a:rPr>
              <a:t>Descript — flujo por texto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99632" y="3886200"/>
            <a:ext cx="5285232" cy="22860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199632" y="3886200"/>
            <a:ext cx="5285232" cy="64008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55664" y="3886200"/>
            <a:ext cx="3456432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Escala / Automatización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793224" y="4059936"/>
            <a:ext cx="1463040" cy="310896"/>
          </a:xfrm>
          <a:prstGeom prst="roundRect">
            <a:avLst>
              <a:gd name="adj" fmla="val 6000"/>
            </a:avLst>
          </a:prstGeom>
          <a:solidFill>
            <a:srgbClr val="0E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793224" y="4059936"/>
            <a:ext cx="14630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Conexión IA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73952" y="4791456"/>
            <a:ext cx="146304" cy="146304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766560" y="4727448"/>
            <a:ext cx="4462272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A2432"/>
                </a:solidFill>
                <a:latin typeface="Calibri"/>
              </a:rPr>
              <a:t>Shotstack — API de render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473952" y="5239512"/>
            <a:ext cx="146304" cy="146304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766560" y="5175504"/>
            <a:ext cx="4462272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A2432"/>
                </a:solidFill>
                <a:latin typeface="Calibri"/>
              </a:rPr>
              <a:t>Fliki videoGPT — desde ChatGPT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473952" y="5687568"/>
            <a:ext cx="146304" cy="146304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766560" y="5623560"/>
            <a:ext cx="4462272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A2432"/>
                </a:solidFill>
                <a:latin typeface="Calibri"/>
              </a:rPr>
              <a:t>Manus — agente orquestador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" cy="45720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74320"/>
            <a:ext cx="10515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2D6CDF"/>
                </a:solidFill>
                <a:latin typeface="Calibri"/>
              </a:rPr>
              <a:t>CONCLUSIONES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493776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0E213A"/>
                </a:solidFill>
                <a:latin typeface="Calibri"/>
              </a:rPr>
              <a:t>Hallazgos y próximos pasos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11183112" cy="15240"/>
          </a:xfrm>
          <a:prstGeom prst="rect">
            <a:avLst/>
          </a:prstGeom>
          <a:solidFill>
            <a:srgbClr val="D9E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37376"/>
            <a:ext cx="5486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2D6CDF"/>
                </a:solidFill>
                <a:latin typeface="Calibri"/>
              </a:rPr>
              <a:t>Howy</a:t>
            </a:r>
            <a:r>
              <a:rPr sz="900" b="0" i="0">
                <a:solidFill>
                  <a:srgbClr val="5B6674"/>
                </a:solidFill>
                <a:latin typeface="Calibri"/>
              </a:rPr>
              <a:t>  ·  Herramientas de IA para video —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37376"/>
            <a:ext cx="914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B6674"/>
                </a:solidFill>
                <a:latin typeface="Calibri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32588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D6CDF"/>
                </a:solidFill>
                <a:latin typeface="Calibri"/>
              </a:rPr>
              <a:t>HALLAZGOS CLAVE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274320" cy="274320"/>
          </a:xfrm>
          <a:prstGeom prst="roundRect">
            <a:avLst>
              <a:gd name="adj" fmla="val 6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828800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1783080"/>
            <a:ext cx="48006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A2432"/>
                </a:solidFill>
                <a:latin typeface="Calibri"/>
              </a:rPr>
              <a:t>Ya no hace falta presupuesto para empezar: todas las categorías tienen opción gratuita.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2670048"/>
            <a:ext cx="274320" cy="274320"/>
          </a:xfrm>
          <a:prstGeom prst="roundRect">
            <a:avLst>
              <a:gd name="adj" fmla="val 6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2670048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624328"/>
            <a:ext cx="48006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A2432"/>
                </a:solidFill>
                <a:latin typeface="Calibri"/>
              </a:rPr>
              <a:t>La 'conexión con IA' es real: ChatGPT + API permiten automatizar la producción.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511296"/>
            <a:ext cx="274320" cy="274320"/>
          </a:xfrm>
          <a:prstGeom prst="roundRect">
            <a:avLst>
              <a:gd name="adj" fmla="val 6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3511296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465576"/>
            <a:ext cx="48006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A2432"/>
                </a:solidFill>
                <a:latin typeface="Calibri"/>
              </a:rPr>
              <a:t>Lo más fácil hoy: CapCut, Pictory y Canva para resultados pulidos en minutos.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4352544"/>
            <a:ext cx="274320" cy="274320"/>
          </a:xfrm>
          <a:prstGeom prst="roundRect">
            <a:avLst>
              <a:gd name="adj" fmla="val 6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4352544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4306824"/>
            <a:ext cx="48006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A2432"/>
                </a:solidFill>
                <a:latin typeface="Calibri"/>
              </a:rPr>
              <a:t>Mejor valor en generación: Kling 3.0; mejor calidad: Veo 3.1.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1325880"/>
            <a:ext cx="5212080" cy="4617720"/>
          </a:xfrm>
          <a:prstGeom prst="roundRect">
            <a:avLst>
              <a:gd name="adj" fmla="val 6000"/>
            </a:avLst>
          </a:prstGeom>
          <a:solidFill>
            <a:srgbClr val="0E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15544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8C2D6"/>
                </a:solidFill>
                <a:latin typeface="Calibri"/>
              </a:rPr>
              <a:t>PRÓXIMOS PASOS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0" y="2057400"/>
            <a:ext cx="457200" cy="457200"/>
          </a:xfrm>
          <a:prstGeom prst="roundRect">
            <a:avLst>
              <a:gd name="adj" fmla="val 6000"/>
            </a:avLst>
          </a:prstGeom>
          <a:solidFill>
            <a:srgbClr val="18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205740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0E213A"/>
                </a:solidFill>
                <a:latin typeface="Calibri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2039112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Pilotar sin costo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2377440"/>
            <a:ext cx="4069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C6D3E6"/>
                </a:solidFill>
                <a:latin typeface="Calibri"/>
              </a:rPr>
              <a:t>Probar CapCut + Kling + OpusClip en una campaña real esta semana.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0" y="2990088"/>
            <a:ext cx="457200" cy="457200"/>
          </a:xfrm>
          <a:prstGeom prst="roundRect">
            <a:avLst>
              <a:gd name="adj" fmla="val 6000"/>
            </a:avLst>
          </a:prstGeom>
          <a:solidFill>
            <a:srgbClr val="18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299008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0E213A"/>
                </a:solidFill>
                <a:latin typeface="Calibri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23760" y="2971800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Definir el stack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3310128"/>
            <a:ext cx="4069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C6D3E6"/>
                </a:solidFill>
                <a:latin typeface="Calibri"/>
              </a:rPr>
              <a:t>Elegir 2-3 herramientas según el perfil y caso de uso prioritario.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0" y="3922776"/>
            <a:ext cx="457200" cy="457200"/>
          </a:xfrm>
          <a:prstGeom prst="roundRect">
            <a:avLst>
              <a:gd name="adj" fmla="val 6000"/>
            </a:avLst>
          </a:prstGeom>
          <a:solidFill>
            <a:srgbClr val="18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0" y="392277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0E213A"/>
                </a:solidFill>
                <a:latin typeface="Calibri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23760" y="3904488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Automatizar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23760" y="4242816"/>
            <a:ext cx="4069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C6D3E6"/>
                </a:solidFill>
                <a:latin typeface="Calibri"/>
              </a:rPr>
              <a:t>Conectar ChatGPT con una API (Shotstack/Fliki) para escalar producción.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0" y="4855464"/>
            <a:ext cx="457200" cy="457200"/>
          </a:xfrm>
          <a:prstGeom prst="roundRect">
            <a:avLst>
              <a:gd name="adj" fmla="val 6000"/>
            </a:avLst>
          </a:prstGeom>
          <a:solidFill>
            <a:srgbClr val="18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0" y="485546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0E213A"/>
                </a:solidFill>
                <a:latin typeface="Calibri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23760" y="483717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Medir y ajustar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23760" y="5175504"/>
            <a:ext cx="4069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C6D3E6"/>
                </a:solidFill>
                <a:latin typeface="Calibri"/>
              </a:rPr>
              <a:t>Comparar tiempo de producción y costo por video antes/después.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54864"/>
          </a:xfrm>
          <a:prstGeom prst="rect">
            <a:avLst/>
          </a:prstGeom>
          <a:solidFill>
            <a:srgbClr val="18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349240" y="2148840"/>
            <a:ext cx="658368" cy="658368"/>
          </a:xfrm>
          <a:prstGeom prst="roundRect">
            <a:avLst>
              <a:gd name="adj" fmla="val 6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49240" y="2148840"/>
            <a:ext cx="6583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063240"/>
            <a:ext cx="121916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Gracias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3886200"/>
            <a:ext cx="12191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C6D3E6"/>
                </a:solidFill>
                <a:latin typeface="Calibri"/>
              </a:rPr>
              <a:t>¿Listos para producir video con IA, fácil y a bajo costo?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12648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8C2D6"/>
                </a:solidFill>
                <a:latin typeface="Calibri"/>
              </a:rPr>
              <a:t>Howy</a:t>
            </a:r>
            <a:r>
              <a:rPr sz="1200" b="0" i="0">
                <a:solidFill>
                  <a:srgbClr val="9FB2CD"/>
                </a:solidFill>
                <a:latin typeface="Calibri"/>
              </a:rPr>
              <a:t>   ·   Presentación ejecutiva   ·   Junio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