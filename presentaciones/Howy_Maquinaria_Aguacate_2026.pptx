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26480"/>
            <a:ext cx="12191695" cy="109728"/>
          </a:xfrm>
          <a:prstGeom prst="rect">
            <a:avLst/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36208"/>
            <a:ext cx="12191695" cy="54864"/>
          </a:xfrm>
          <a:prstGeom prst="rect">
            <a:avLst/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31520"/>
            <a:ext cx="566928" cy="566928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73152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73152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Howy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8C2D6"/>
                </a:solidFill>
                <a:latin typeface="Calibri"/>
              </a:rPr>
              <a:t>PRESENTACIÓN EJECUTIVA · INVESTIGACIÓN TÉCNICA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106984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4200" b="1" i="0">
                <a:solidFill>
                  <a:srgbClr val="FFFFFF"/>
                </a:solidFill>
                <a:latin typeface="Calibri"/>
              </a:rPr>
              <a:t>Maquinaria del proceso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4200" b="1" i="0">
                <a:solidFill>
                  <a:srgbClr val="FFFFFF"/>
                </a:solidFill>
                <a:latin typeface="Calibri"/>
              </a:rPr>
              <a:t>del aguacate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61772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C6D3E6"/>
                </a:solidFill>
                <a:latin typeface="Calibri"/>
              </a:rPr>
              <a:t>Cosecha · recepción · lavado · calibrado y selección · empaque · paletizado · cadena de frío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9FB2CD"/>
                </a:solidFill>
                <a:latin typeface="Calibri"/>
              </a:rPr>
              <a:t>Partes mecánicas · funciones · costos · proveedores · datasheets · estructura de línea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355080"/>
            <a:ext cx="1325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9FB2CD"/>
                </a:solidFill>
                <a:latin typeface="Calibri"/>
              </a:rPr>
              <a:t>Julio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D6CDF"/>
                </a:solidFill>
                <a:latin typeface="Calibri"/>
              </a:rPr>
              <a:t>RESUMEN EJECUTIVO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Alcance y método de la investigación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proceso de aguacate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80160"/>
            <a:ext cx="10789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674"/>
                </a:solidFill>
                <a:latin typeface="Calibri"/>
              </a:rPr>
              <a:t>Mapeamos toda la maquinaria que interviene desde que el aguacate se corta del árbol hasta que sale refrigerado hacia el cliente. La información proviene de sitios de fabricantes, catálogos, datasheets y documentos técnicos de todo el mundo (Europa, EE. UU., Australia, LATAM y China).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331720"/>
            <a:ext cx="2606040" cy="1874519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331720"/>
            <a:ext cx="2606040" cy="82296"/>
          </a:xfrm>
          <a:prstGeom prst="rect">
            <a:avLst/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551176"/>
            <a:ext cx="227685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1" i="0">
                <a:solidFill>
                  <a:srgbClr val="2EA84F"/>
                </a:solidFill>
                <a:latin typeface="Calibri"/>
              </a:rPr>
              <a:t>5</a:t>
            </a:r>
            <a:r>
              <a:rPr sz="1250" b="1" i="0">
                <a:solidFill>
                  <a:srgbClr val="0E213A"/>
                </a:solidFill>
                <a:latin typeface="Calibri"/>
              </a:rPr>
              <a:t>  etapas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264408"/>
            <a:ext cx="2240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674"/>
                </a:solidFill>
                <a:latin typeface="Calibri"/>
              </a:rPr>
              <a:t>Campo, recepción, calibrado,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674"/>
                </a:solidFill>
                <a:latin typeface="Calibri"/>
              </a:rPr>
              <a:t>empaque y cadena de frío.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83864" y="2331720"/>
            <a:ext cx="2606040" cy="1874519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83864" y="2331720"/>
            <a:ext cx="2606040" cy="82296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6744" y="2551176"/>
            <a:ext cx="227685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1" i="0">
                <a:solidFill>
                  <a:srgbClr val="2D6CDF"/>
                </a:solidFill>
                <a:latin typeface="Calibri"/>
              </a:rPr>
              <a:t>30+</a:t>
            </a:r>
            <a:r>
              <a:rPr sz="1250" b="1" i="0">
                <a:solidFill>
                  <a:srgbClr val="0E213A"/>
                </a:solidFill>
                <a:latin typeface="Calibri"/>
              </a:rPr>
              <a:t>  máquinas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6744" y="3264408"/>
            <a:ext cx="2240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674"/>
                </a:solidFill>
                <a:latin typeface="Calibri"/>
              </a:rPr>
              <a:t>Descritas con partes,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674"/>
                </a:solidFill>
                <a:latin typeface="Calibri"/>
              </a:rPr>
              <a:t>función, specs y costo.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2331720"/>
            <a:ext cx="2606040" cy="1874519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54496" y="2331720"/>
            <a:ext cx="2606040" cy="8229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7376" y="2551176"/>
            <a:ext cx="227685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1" i="0">
                <a:solidFill>
                  <a:srgbClr val="F5A623"/>
                </a:solidFill>
                <a:latin typeface="Calibri"/>
              </a:rPr>
              <a:t>100%</a:t>
            </a:r>
            <a:r>
              <a:rPr sz="1250" b="1" i="0">
                <a:solidFill>
                  <a:srgbClr val="0E213A"/>
                </a:solidFill>
                <a:latin typeface="Calibri"/>
              </a:rPr>
              <a:t>  manual la cosecha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3264408"/>
            <a:ext cx="2240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674"/>
                </a:solidFill>
                <a:latin typeface="Calibri"/>
              </a:rPr>
              <a:t>El aguacate se magulla: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674"/>
                </a:solidFill>
                <a:latin typeface="Calibri"/>
              </a:rPr>
              <a:t>no hay vibrador viable.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25128" y="2331720"/>
            <a:ext cx="2606040" cy="1874519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25128" y="2331720"/>
            <a:ext cx="2606040" cy="82296"/>
          </a:xfrm>
          <a:prstGeom prst="rect">
            <a:avLst/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08008" y="2551176"/>
            <a:ext cx="227685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1" i="0">
                <a:solidFill>
                  <a:srgbClr val="18C2D6"/>
                </a:solidFill>
                <a:latin typeface="Calibri"/>
              </a:rPr>
              <a:t>NIR</a:t>
            </a:r>
            <a:r>
              <a:rPr sz="1250" b="1" i="0">
                <a:solidFill>
                  <a:srgbClr val="0E213A"/>
                </a:solidFill>
                <a:latin typeface="Calibri"/>
              </a:rPr>
              <a:t>  el corazón técnico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08008" y="3264408"/>
            <a:ext cx="2240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674"/>
                </a:solidFill>
                <a:latin typeface="Calibri"/>
              </a:rPr>
              <a:t>Materia seca = madurez,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674"/>
                </a:solidFill>
                <a:latin typeface="Calibri"/>
              </a:rPr>
              <a:t>medida sin cortar la fruta.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4526280"/>
            <a:ext cx="10771632" cy="1508760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681728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8C2D6"/>
                </a:solidFill>
                <a:latin typeface="Calibri"/>
              </a:rPr>
              <a:t>HILO CONDUCTOR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983480"/>
            <a:ext cx="102412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El aguacate (sobre todo Hass) es muy sensible al golpe y al daño de lenticelas. Por eso TODA la maquinaria está diseñada para un trato suave: volteo en seco, transportadores acolchados, ventosas y giro controlado. La tecnología de punta está en la selección óptica + NIR (materia seca), y la inversión es escalable: desde herramientas de decenas de dólares hasta líneas premium de millones.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D6CDF"/>
                </a:solidFill>
                <a:latin typeface="Calibri"/>
              </a:rPr>
              <a:t>ESTRUCTURA DE LA LÍNEA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Mapa del proceso, de principio a fin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proceso de aguacate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25880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325880"/>
            <a:ext cx="2011680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CAMPO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1371600"/>
            <a:ext cx="1594713" cy="310896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 · Cosecha manual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66513" y="1371600"/>
            <a:ext cx="1594713" cy="310896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 · Acopio en bins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2666" y="1371600"/>
            <a:ext cx="1997049" cy="310896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 · Transporte a planta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2295144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295144"/>
            <a:ext cx="2011680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RECEPCIÓN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2340864"/>
            <a:ext cx="1594713" cy="310896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 · Volteo de bins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513" y="2340864"/>
            <a:ext cx="1433779" cy="310896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5 · Preselección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91732" y="2340864"/>
            <a:ext cx="1916582" cy="310896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6 · Lavado y cepillado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9754" y="2340864"/>
            <a:ext cx="1111910" cy="310896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7 · Encerado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03104" y="2340864"/>
            <a:ext cx="950975" cy="310896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8 · Secado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264408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264408"/>
            <a:ext cx="2011680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CALIBRADO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80360" y="3310128"/>
            <a:ext cx="1755647" cy="310896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9 · Selección óptica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27447" y="3310128"/>
            <a:ext cx="2560320" cy="310896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10 · Peso + NIR (materia seca)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79207" y="3310128"/>
            <a:ext cx="2318918" cy="310896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11 · Distribución a salidas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4233672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233672"/>
            <a:ext cx="2011680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EMPAQUE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880360" y="4279392"/>
            <a:ext cx="1675180" cy="310896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12 · Etiquetado PLU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46980" y="4279392"/>
            <a:ext cx="2399385" cy="310896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13 · Empaque en bandeja/caja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7805" y="4279392"/>
            <a:ext cx="1192377" cy="310896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14 · Embalaje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2" y="4279392"/>
            <a:ext cx="1353311" cy="310896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15 · Paletizado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5202936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5202936"/>
            <a:ext cx="2011680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CADENA DE FRÍO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880360" y="5248656"/>
            <a:ext cx="2479852" cy="310896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16 · Preenfriado aire forzado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51652" y="5248656"/>
            <a:ext cx="2721254" cy="310896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17 · Frío / atmósfera controlada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64346" y="5248656"/>
            <a:ext cx="2157984" cy="310896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18 · Maduración (etileno)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880360" y="5632704"/>
            <a:ext cx="2157984" cy="310896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19 · Despacho refrigerado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3232" y="614476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5B6674"/>
                </a:solidFill>
                <a:latin typeface="Calibri"/>
              </a:rPr>
              <a:t>Nota: el encerado es opcional según destino; la atmósfera controlada y la maduración se usan para exportación / retail.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EA84F"/>
                </a:solidFill>
                <a:latin typeface="Calibri"/>
              </a:rPr>
              <a:t>ETAPA 1 · CAMPO — COSECHA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Herramientas de cosecha manual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proceso de aguacate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8016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28016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4136" y="1298448"/>
            <a:ext cx="128016" cy="2176272"/>
          </a:xfrm>
          <a:prstGeom prst="rect">
            <a:avLst/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463040"/>
            <a:ext cx="24048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Tijeras de cosecha (Manzana Nules M25-AM / Corona)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44368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España · EE. UU.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142646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2EA84F"/>
                </a:solidFill>
                <a:latin typeface="Calibri"/>
              </a:rPr>
              <a:t>FUNCIÓN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164592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Cortan el pedúnculo dejando ~3 mm de 'botón' sin dañar la piel del fruto.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85032" y="229514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41064" y="224942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Partes: hoja de corte cónica de acero, puntas y bordes redondeados, mango ergonómico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85032" y="260146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41064" y="255574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Diseñadas específicamente para aguacate (evitan marcas y rayaduras)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85032" y="290779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41064" y="286207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Datasheet: ajustables a distinto grosor de pedúnculo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5032" y="309067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EA84F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USD 22.6 (Corona/Lobo); COP 293k–340k altura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2671" y="309067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EA84F"/>
                </a:solidFill>
                <a:latin typeface="Calibri"/>
              </a:rPr>
              <a:t>Dónde: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Manzana Nules, Lobo Products, Terravocado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70332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3232" y="370332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74136" y="3721608"/>
            <a:ext cx="128016" cy="2176272"/>
          </a:xfrm>
          <a:prstGeom prst="rect">
            <a:avLst/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886200"/>
            <a:ext cx="24048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Pértiga telescópica + cabezal con bolsa (TP300AL + M26 / Lobo)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367528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España · EE. UU.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5032" y="384962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2EA84F"/>
                </a:solidFill>
                <a:latin typeface="Calibri"/>
              </a:rPr>
              <a:t>FUNCIÓN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5032" y="406908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Cosecha en altura: sistema 'jalar y cortar' que deja caer el fruto en la bolsa.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85032" y="471830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41064" y="467258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Partes: pértiga de aluminio/fibra de vidrio 1.7–3.7 m, hoja endurecida, bolsa de poliéster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85032" y="502462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41064" y="497890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Cabezal de doble ángulo; bolsa recolectora ~18 kg con anillos de descarga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85032" y="533095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41064" y="528523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Fibra de vidrio no se dobla bajo carga (a diferencia del aluminio)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85032" y="551383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EA84F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Pértiga USD 89.9; cabezal+bolsa USD 69.9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1" y="551383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EA84F"/>
                </a:solidFill>
                <a:latin typeface="Calibri"/>
              </a:rPr>
              <a:t>Dónde: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Lobo Products (EE.UU.), Manzana Nules (ES)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EA84F"/>
                </a:solidFill>
                <a:latin typeface="Calibri"/>
              </a:rPr>
              <a:t>ETAPA 1 · CAMPO — COSECHA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Plataformas de cosecha (harvest aids)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proceso de aguacate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8016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28016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4136" y="1298448"/>
            <a:ext cx="128016" cy="2176272"/>
          </a:xfrm>
          <a:prstGeom prst="rect">
            <a:avLst/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463040"/>
            <a:ext cx="24048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Munckhof Pluk-O-Trak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44368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Países Bajos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142646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2EA84F"/>
                </a:solidFill>
                <a:latin typeface="Calibri"/>
              </a:rPr>
              <a:t>FUNCIÓN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164592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Plataforma autopropulsada: 4–6 recolectores + cintas depositan la fruta en cajas.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85032" y="229514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41064" y="224942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Partes: chasis autopropulsado, 2 plataformas elevables, 4–6 cintas transportadoras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85032" y="260146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41064" y="255574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Datasheet (Senior): motor 9.7 kW, 1,140 kg, 4.7 m, árbol hasta 4 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85032" y="290779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41064" y="286207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Reduce costo de cosecha y daño hasta ~50%; gasolina/eléctrico/híbrido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5032" y="309067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EA84F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Por cotización (usado: mercado NL)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2671" y="309067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EA84F"/>
                </a:solidFill>
                <a:latin typeface="Calibri"/>
              </a:rPr>
              <a:t>Dónde: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Munckhof (NL); dist. NP Seymour (UK)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70332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3232" y="370332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74136" y="3721608"/>
            <a:ext cx="128016" cy="2176272"/>
          </a:xfrm>
          <a:prstGeom prst="rect">
            <a:avLst/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886200"/>
            <a:ext cx="24048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Revo Piuma 4WD / Billo BIG 2000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367528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Italia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5032" y="384962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2EA84F"/>
                </a:solidFill>
                <a:latin typeface="Calibri"/>
              </a:rPr>
              <a:t>FUNCIÓN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5032" y="406908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Cosecha y poda en alta densidad; cintas laterales + central bajan la fruta al bin.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85032" y="471830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41064" y="467258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Partes: chasis 4WD autonivelante, plataforma 140×110 cm, compresor 50 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85032" y="502462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41064" y="497890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Altura máx. de plataforma 250 cm; dirección independiente 'auto-drive'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85032" y="533095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41064" y="528523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IMPORTANTE: el aguacate NO se cosecha con vibrador — magullado 90–95% y daña el árbol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85032" y="551383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EA84F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Por cotización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1" y="551383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EA84F"/>
                </a:solidFill>
                <a:latin typeface="Calibri"/>
              </a:rPr>
              <a:t>Dónde: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Revo/Billo (IT); dist. Blueline, OESCO (EE.UU.)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EA84F"/>
                </a:solidFill>
                <a:latin typeface="Calibri"/>
              </a:rPr>
              <a:t>ETAPA 1 · CAMPO — LOGÍSTICA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Contenedores y manejo en campo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proceso de aguacate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8016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28016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4136" y="1298448"/>
            <a:ext cx="128016" cy="2176272"/>
          </a:xfrm>
          <a:prstGeom prst="rect">
            <a:avLst/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463040"/>
            <a:ext cx="24048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Bins plásticos ventilados (MacroBin / IPL Schoeller)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44368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EE. UU. / global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142646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2EA84F"/>
                </a:solidFill>
                <a:latin typeface="Calibri"/>
              </a:rPr>
              <a:t>FUNCIÓN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164592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Recolectan, transportan y almacenan la fruta; paredes ventiladas para flujo de aire.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85032" y="229514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41064" y="224942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Partes: paredes ventiladas, base para montacargas, apilables e higiénicos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85032" y="260146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41064" y="255574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Datasheet: 48×48×28 in; capacidad de carga ~667 L (MacroBin 24FV)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85032" y="290779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41064" y="286207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Superan a la madera en carga, higiene y compatibilidad con frío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5032" y="309067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EA84F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USD 189–349 por bin (Pallets &amp; Bins)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2671" y="309067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EA84F"/>
                </a:solidFill>
                <a:latin typeface="Calibri"/>
              </a:rPr>
              <a:t>Dónde: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IPL Schoeller, TranPak, Buckhorn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70332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3232" y="370332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74136" y="3721608"/>
            <a:ext cx="128016" cy="2176272"/>
          </a:xfrm>
          <a:prstGeom prst="rect">
            <a:avLst/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886200"/>
            <a:ext cx="24048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Telehandler / montacargas todo terreno (Genie, JLG)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367528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EE. UU. / global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5032" y="384962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2EA84F"/>
                </a:solidFill>
                <a:latin typeface="Calibri"/>
              </a:rPr>
              <a:t>FUNCIÓN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5032" y="406908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Cargan y apilan los bins llenos al remolque o camión, en terreno de huerto.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85032" y="471830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41064" y="467258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Partes: pluma telescópica, horquillas, mástil, neumáticos off-road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85032" y="502462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41064" y="497890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Datasheet: capacidad 2,270–5,440 kg; alcance ~18 ft (alto alcance hasta 56 ft)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85032" y="533095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41064" y="528523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También tractores frutícolas estrechos con remolques portabines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85032" y="551383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EA84F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Variable (compra/renta)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1" y="551383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EA84F"/>
                </a:solidFill>
                <a:latin typeface="Calibri"/>
              </a:rPr>
              <a:t>Dónde: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Genie, JLG y distribuidores regionales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18C2D6"/>
                </a:solidFill>
                <a:latin typeface="Calibri"/>
              </a:rPr>
              <a:t>ETAPA 2 · RECEPCIÓN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Volteo de bins (seco vs. húmedo)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proceso de aguacate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8016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28016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4136" y="1298448"/>
            <a:ext cx="128016" cy="2176272"/>
          </a:xfrm>
          <a:prstGeom prst="rect">
            <a:avLst/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463040"/>
            <a:ext cx="24048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Volteador ProFruit UNLOADER 800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44368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Polonia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142646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8C2D6"/>
                </a:solidFill>
                <a:latin typeface="Calibri"/>
              </a:rPr>
              <a:t>FUNCIÓN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164592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Levanta el bin y vierte la fruta gradualmente sobre la cinta clasificadora (1er paso).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85032" y="229514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41064" y="224942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Partes: accionamiento hidráulico, superficies inox grado alimenticio, control por palanca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85032" y="260146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41064" y="255574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Datasheet: caja máx. 120×120×85 cm, capacidad de carga 800 kg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85032" y="290779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41064" y="286207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También versión UNLOADER 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5032" y="309067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8C2D6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Por cotización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2671" y="309067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8C2D6"/>
                </a:solidFill>
                <a:latin typeface="Calibri"/>
              </a:rPr>
              <a:t>Dónde: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ProFruit (Polonia)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70332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3232" y="370332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74136" y="3721608"/>
            <a:ext cx="128016" cy="2176272"/>
          </a:xfrm>
          <a:prstGeom prst="rect">
            <a:avLst/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886200"/>
            <a:ext cx="24048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Volteo suave / seco (KW Soft Auto · Unitec UNI ROV · ICOEL)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367528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Australia · Italia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5032" y="384962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8C2D6"/>
                </a:solidFill>
                <a:latin typeface="Calibri"/>
              </a:rPr>
              <a:t>FUNCIÓN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5032" y="406908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Vaciado gradual y suave para fruta delicada; evita el impacto que causa magullado.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85032" y="471830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41064" y="467258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Partes: inox, destacador (de-stacker) y apilador de bins vacíos, estaciones buffer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85032" y="502462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41064" y="497890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Volteo SECO preferido en aguacate (menos daño y sin exceso de humedad)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85032" y="533095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41064" y="528523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Volteo húmedo (a canal de agua) es común en cítricos, menos en aguacate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85032" y="551383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8C2D6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Por cotización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1" y="551383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8C2D6"/>
                </a:solidFill>
                <a:latin typeface="Calibri"/>
              </a:rPr>
              <a:t>Dónde: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KW Automation (AU), Unitec/ICOEL (IT)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18C2D6"/>
                </a:solidFill>
                <a:latin typeface="Calibri"/>
              </a:rPr>
              <a:t>ETAPA 2 · RECEPCIÓN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Lavado, cepillado, secado y encerado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proceso de aguacate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8016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28016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4136" y="1298448"/>
            <a:ext cx="128016" cy="2176272"/>
          </a:xfrm>
          <a:prstGeom prst="rect">
            <a:avLst/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463040"/>
            <a:ext cx="24048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Túnel de lavado y cepillado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44368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Líneas MAF/GREEFA/TOMRA y chinas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142646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8C2D6"/>
                </a:solidFill>
                <a:latin typeface="Calibri"/>
              </a:rPr>
              <a:t>FUNCIÓN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164592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Aspersión a alta presión + túnel de cepillos que limpian y sanitizan la fruta.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85032" y="229514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41064" y="224942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Partes: tanque de burbujas + elevador de rodillos, cepillos de crin/nylon, boquillas, bomba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85032" y="260146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41064" y="255574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Cepillos por color: verde (agita/sanitiza), rojo (quita agua), negro (pulido)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85032" y="290779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41064" y="286207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Datasheet: 1–20 t/h; inox SS304 (contacto) / SS316; tanque 2.45 m³; agua 1.5 t/h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5032" y="309067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8C2D6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Parte del rango de línea (ver costos)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2671" y="309067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8C2D6"/>
                </a:solidFill>
                <a:latin typeface="Calibri"/>
              </a:rPr>
              <a:t>Dónde: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MAF, GREEFA, TOMRA; chinos (Gelgoog)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70332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3232" y="370332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74136" y="3721608"/>
            <a:ext cx="128016" cy="2176272"/>
          </a:xfrm>
          <a:prstGeom prst="rect">
            <a:avLst/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886200"/>
            <a:ext cx="24048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Secado (air knife) + encerado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367528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Global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5032" y="384962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8C2D6"/>
                </a:solidFill>
                <a:latin typeface="Calibri"/>
              </a:rPr>
              <a:t>FUNCIÓN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5032" y="406908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Cuchilla de aire retira las gotas; el encerado (opcional) da brillo y vida útil.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85032" y="471830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41064" y="467258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Partes: soplador de alta velocidad / cuchillas de aire, ventiladores, aplicador de cera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85032" y="502462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41064" y="497890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Encerado según mercado destino; seguido de túnel de secado con aire caliente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85032" y="533095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41064" y="528523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Cepillos pulidores finales antes del calibrado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85032" y="551383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8C2D6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Incluido en la línea llave en mano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1" y="551383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8C2D6"/>
                </a:solidFill>
                <a:latin typeface="Calibri"/>
              </a:rPr>
              <a:t>Dónde: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Integradores de línea (ver proveedores)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D6CDF"/>
                </a:solidFill>
                <a:latin typeface="Calibri"/>
              </a:rPr>
              <a:t>ETAPA 3 · CALIBRADO Y SELECCIÓN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Calibrado por peso — mecánica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proceso de aguacate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8016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28016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4136" y="1298448"/>
            <a:ext cx="128016" cy="2176272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463040"/>
            <a:ext cx="24048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Copas basculantes (tipping cups) + celda de carga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44368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Tecnología 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142646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2D6CDF"/>
                </a:solidFill>
                <a:latin typeface="Calibri"/>
              </a:rPr>
              <a:t>FUNCIÓN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164592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Cada fruto viaja en una copa; se pesa en movimiento y la copa vuelca en la salida por calibre.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85032" y="229514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41064" y="224942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Partes: copas sobre cadena, celda de carga por posición, actuador de volcado, PLC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85032" y="260146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41064" y="255574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Requiere singulación previa (una fruta por copa) para pesar con precisión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85032" y="290779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41064" y="286207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Asigna cada aguacate a su salida por peso (calibres 48/60/70…)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5032" y="309067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D6CDF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Integrado en la calibradora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2671" y="309067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D6CDF"/>
                </a:solidFill>
                <a:latin typeface="Calibri"/>
              </a:rPr>
              <a:t>Dónde: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Van Doren, MAF, Aweta, GREEFA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70332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3232" y="370332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74136" y="3721608"/>
            <a:ext cx="128016" cy="2176272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886200"/>
            <a:ext cx="24048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Rodillos rotatorios (roller cups) + singulador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367528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Tecnología 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5032" y="384962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2D6CDF"/>
                </a:solidFill>
                <a:latin typeface="Calibri"/>
              </a:rPr>
              <a:t>FUNCIÓN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5032" y="406908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Giran la fruta 360° para que las cámaras capten toda la superficie; luego descargan.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85032" y="471830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41064" y="467258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Partes: rodillos de gran diámetro, singulador de entrada, transportador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85032" y="502462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41064" y="497890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Permite inspección visual total (color, defectos) durante el giro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85032" y="533095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41064" y="528523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Datasheet típico: ~2 t/carril/h y 95% de precisión (TOMRA hasta ~5 t/carril/h)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85032" y="551383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D6CDF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Integrado en la calibradora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1" y="551383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D6CDF"/>
                </a:solidFill>
                <a:latin typeface="Calibri"/>
              </a:rPr>
              <a:t>Dónde: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TOMRA/Compac, GREEFA, MAF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D6CDF"/>
                </a:solidFill>
                <a:latin typeface="Calibri"/>
              </a:rPr>
              <a:t>ETAPA 3 · CALIBRADO Y SELECCIÓN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Selección óptica + calidad interna (NIR)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proceso de aguacate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8016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28016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4136" y="1298448"/>
            <a:ext cx="128016" cy="2176272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463040"/>
            <a:ext cx="24048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Visión externa (cámaras + iluminación LED)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44368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TOMRA, GREEFA, MAF, GP Graders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142646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2D6CDF"/>
                </a:solidFill>
                <a:latin typeface="Calibri"/>
              </a:rPr>
              <a:t>FUNCIÓN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164592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Evalúan color, tamaño, forma y defectos de piel (cortes, magulladuras, roña, insectos).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85032" y="229514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41064" y="224942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Partes: túnel multicámara RGB, LED difusa, procesador de imagen, software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85032" y="260146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41064" y="255574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TOMRA Spectrim + LUCAi usa IA de aprendizaje profundo para clasificar defectos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85032" y="290779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41064" y="286207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GREEFA iQS · MAF Globalscan (360°) · GP Graders gpVision (HD)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5032" y="309067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D6CDF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Módulo de línea (cotización)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2671" y="309067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D6CDF"/>
                </a:solidFill>
                <a:latin typeface="Calibri"/>
              </a:rPr>
              <a:t>Dónde: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Fabricantes premium (ver tabla)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70332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3232" y="370332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74136" y="3721608"/>
            <a:ext cx="128016" cy="2176272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886200"/>
            <a:ext cx="24048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Calidad interna NIR — materia seca / madurez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367528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Infrarrojo cercano (no destructivo)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5032" y="384962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2D6CDF"/>
                </a:solidFill>
                <a:latin typeface="Calibri"/>
              </a:rPr>
              <a:t>FUNCIÓN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5032" y="406908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Mide la materia seca (% → aceite = madurez) y detecta pardeamiento sin cortar la fruta.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85032" y="471830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41064" y="467258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Inline: TOMRA Inspectra² (materia seca/Brix), GREEFA iFA (imagen IR), Aweta Inscan (materia seca + aceite)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85032" y="502462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41064" y="497890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Portátil de mano: Felix F-751 Avocado Quality Meter (materia seca 14–40%, ±1.15 DM)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85032" y="533095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41064" y="528523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Materia seca mínima de cosecha (Hass) ~20–23% según norma del país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85032" y="551383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D6CDF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Portátil ≈ USD 5,400 (£4,263); inline: cotización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1" y="551383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D6CDF"/>
                </a:solidFill>
                <a:latin typeface="Calibri"/>
              </a:rPr>
              <a:t>Dónde: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Felix Instruments; fabricantes de línea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D6CDF"/>
                </a:solidFill>
                <a:latin typeface="Calibri"/>
              </a:rPr>
              <a:t>ETAPA 3 · CALIBRADO Y SELECCIÓN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Marcas líderes de líneas de calibrado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proceso de aguacate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10771632" cy="457200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298448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Marca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18688" y="1298448"/>
            <a:ext cx="1508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País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0328" y="1298448"/>
            <a:ext cx="4297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Tecnología clave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0888" y="1298448"/>
            <a:ext cx="203911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Capacidad / dato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1755648"/>
            <a:ext cx="10771632" cy="4892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1755648"/>
            <a:ext cx="2194560" cy="489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213A"/>
                </a:solidFill>
                <a:latin typeface="Calibri"/>
              </a:rPr>
              <a:t>Van Doren Sales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8688" y="1755648"/>
            <a:ext cx="1508760" cy="489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674"/>
                </a:solidFill>
                <a:latin typeface="Calibri"/>
              </a:rPr>
              <a:t>EE. UU.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10328" y="1755648"/>
            <a:ext cx="4297680" cy="489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B6674"/>
                </a:solidFill>
                <a:latin typeface="Calibri"/>
              </a:rPr>
              <a:t>Peso por copas + celdas de carga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90888" y="1755648"/>
            <a:ext cx="2039112" cy="489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674"/>
                </a:solidFill>
                <a:latin typeface="Calibri"/>
              </a:rPr>
              <a:t>Alto volumen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244852"/>
            <a:ext cx="10771632" cy="489204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2244852"/>
            <a:ext cx="2194560" cy="489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213A"/>
                </a:solidFill>
                <a:latin typeface="Calibri"/>
              </a:rPr>
              <a:t>GP Graders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18688" y="2244852"/>
            <a:ext cx="1508760" cy="489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674"/>
                </a:solidFill>
                <a:latin typeface="Calibri"/>
              </a:rPr>
              <a:t>Australia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10328" y="2244852"/>
            <a:ext cx="4297680" cy="489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B6674"/>
                </a:solidFill>
                <a:latin typeface="Calibri"/>
              </a:rPr>
              <a:t>AirJet + gpVision (visión + peso)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0888" y="2244852"/>
            <a:ext cx="2039112" cy="489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674"/>
                </a:solidFill>
                <a:latin typeface="Calibri"/>
              </a:rPr>
              <a:t>hasta 32 frutos/s por carril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2734056"/>
            <a:ext cx="10771632" cy="4892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2734056"/>
            <a:ext cx="2194560" cy="489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213A"/>
                </a:solidFill>
                <a:latin typeface="Calibri"/>
              </a:rPr>
              <a:t>MAF Roda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18688" y="2734056"/>
            <a:ext cx="1508760" cy="489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674"/>
                </a:solidFill>
                <a:latin typeface="Calibri"/>
              </a:rPr>
              <a:t>Francia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10328" y="2734056"/>
            <a:ext cx="4297680" cy="489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B6674"/>
                </a:solidFill>
                <a:latin typeface="Calibri"/>
              </a:rPr>
              <a:t>Globalscan 360° + NIR/IDD (Insight)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90888" y="2734056"/>
            <a:ext cx="2039112" cy="489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674"/>
                </a:solidFill>
                <a:latin typeface="Calibri"/>
              </a:rPr>
              <a:t>líneas multicarril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3232" y="3223260"/>
            <a:ext cx="10771632" cy="489204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3223260"/>
            <a:ext cx="2194560" cy="489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213A"/>
                </a:solidFill>
                <a:latin typeface="Calibri"/>
              </a:rPr>
              <a:t>GREEFA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18688" y="3223260"/>
            <a:ext cx="1508760" cy="489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674"/>
                </a:solidFill>
                <a:latin typeface="Calibri"/>
              </a:rPr>
              <a:t>P. Bajos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10328" y="3223260"/>
            <a:ext cx="4297680" cy="489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B6674"/>
                </a:solidFill>
                <a:latin typeface="Calibri"/>
              </a:rPr>
              <a:t>GeoSort + iQS (ext.) + iFA (interno IR)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90888" y="3223260"/>
            <a:ext cx="2039112" cy="489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674"/>
                </a:solidFill>
                <a:latin typeface="Calibri"/>
              </a:rPr>
              <a:t>robot empaque 100 pzas/min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232" y="3712464"/>
            <a:ext cx="10771632" cy="4892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3712464"/>
            <a:ext cx="2194560" cy="489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213A"/>
                </a:solidFill>
                <a:latin typeface="Calibri"/>
              </a:rPr>
              <a:t>TOMRA / Compac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18688" y="3712464"/>
            <a:ext cx="1508760" cy="489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674"/>
                </a:solidFill>
                <a:latin typeface="Calibri"/>
              </a:rPr>
              <a:t>Noruega / NZ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10328" y="3712464"/>
            <a:ext cx="4297680" cy="489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B6674"/>
                </a:solidFill>
                <a:latin typeface="Calibri"/>
              </a:rPr>
              <a:t>Spectrim + LUCAi (IA) + Inspectra² NIR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90888" y="3712464"/>
            <a:ext cx="2039112" cy="489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674"/>
                </a:solidFill>
                <a:latin typeface="Calibri"/>
              </a:rPr>
              <a:t>~5 t/carril/h (premium)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3232" y="4201668"/>
            <a:ext cx="10771632" cy="489204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8" y="4201668"/>
            <a:ext cx="2194560" cy="489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213A"/>
                </a:solidFill>
                <a:latin typeface="Calibri"/>
              </a:rPr>
              <a:t>Aweta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18688" y="4201668"/>
            <a:ext cx="1508760" cy="489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674"/>
                </a:solidFill>
                <a:latin typeface="Calibri"/>
              </a:rPr>
              <a:t>P. Bajos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10328" y="4201668"/>
            <a:ext cx="4297680" cy="489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B6674"/>
                </a:solidFill>
                <a:latin typeface="Calibri"/>
              </a:rPr>
              <a:t>Peso/volumen + visión + NIR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90888" y="4201668"/>
            <a:ext cx="2039112" cy="489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674"/>
                </a:solidFill>
                <a:latin typeface="Calibri"/>
              </a:rPr>
              <a:t>KG3 ±2 g de exactitud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3232" y="4690872"/>
            <a:ext cx="10771632" cy="4892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" y="4690872"/>
            <a:ext cx="2194560" cy="489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213A"/>
                </a:solidFill>
                <a:latin typeface="Calibri"/>
              </a:rPr>
              <a:t>Unitec · Multiscan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18688" y="4690872"/>
            <a:ext cx="1508760" cy="489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674"/>
                </a:solidFill>
                <a:latin typeface="Calibri"/>
              </a:rPr>
              <a:t>Italia · España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10328" y="4690872"/>
            <a:ext cx="4297680" cy="489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B6674"/>
                </a:solidFill>
                <a:latin typeface="Calibri"/>
              </a:rPr>
              <a:t>Visión artificial (Avocado Vision)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90888" y="4690872"/>
            <a:ext cx="2039112" cy="489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674"/>
                </a:solidFill>
                <a:latin typeface="Calibri"/>
              </a:rPr>
              <a:t>a medida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3232" y="5180076"/>
            <a:ext cx="10771632" cy="489204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1248" y="5180076"/>
            <a:ext cx="2194560" cy="489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213A"/>
                </a:solidFill>
                <a:latin typeface="Calibri"/>
              </a:rPr>
              <a:t>Reemoon · Gelgoog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18688" y="5180076"/>
            <a:ext cx="1508760" cy="489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674"/>
                </a:solidFill>
                <a:latin typeface="Calibri"/>
              </a:rPr>
              <a:t>China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10328" y="5180076"/>
            <a:ext cx="4297680" cy="489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B6674"/>
                </a:solidFill>
                <a:latin typeface="Calibri"/>
              </a:rPr>
              <a:t>Peso + visión (+Brix) — bajo costo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390888" y="5180076"/>
            <a:ext cx="2039112" cy="489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674"/>
                </a:solidFill>
                <a:latin typeface="Calibri"/>
              </a:rPr>
              <a:t>1–20 t/h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3232" y="6172200"/>
            <a:ext cx="10771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5B6674"/>
                </a:solidFill>
                <a:latin typeface="Calibri"/>
              </a:rPr>
              <a:t>Ningún fabricante premium publica precios de lista: las líneas se cotizan por proyecto (nº de carriles, módulos NIR, capacidad).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5A623"/>
                </a:solidFill>
                <a:latin typeface="Calibri"/>
              </a:rPr>
              <a:t>ETAPA 4 · EMPAQUE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Empaque, llenado y etiquetado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proceso de aguacate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8016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28016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4136" y="1298448"/>
            <a:ext cx="128016" cy="21762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463040"/>
            <a:ext cx="24048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Mesas de acumulación y llenado de cajas (tray fillers)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44368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MAF · GREEFA · Unitec · Berjeda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142646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F5A623"/>
                </a:solidFill>
                <a:latin typeface="Calibri"/>
              </a:rPr>
              <a:t>FUNCIÓN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164592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Reúnen la fruta ya calibrada y la depositan en bandeja/caja por peso o por conteo.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85032" y="229514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41064" y="224942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Partes: bandas de acumulación, celdas de carga, cámara de conteo, cilindros neumáticos, robot pick&amp;place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85032" y="260146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41064" y="255574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Unitec 'UNIQ' y GREEFA SmartPackr empacan en bandejas con robot (hasta 100 pzas/min)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85032" y="290779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41064" y="286207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Van Doren COR: cambio de formato en &lt; 60 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5032" y="309067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5A623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Por cotización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2671" y="309067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5A623"/>
                </a:solidFill>
                <a:latin typeface="Calibri"/>
              </a:rPr>
              <a:t>Dónde: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MAF, GREEFA, Unitec; Berjeda (ES), ASLAN (MX)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70332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3232" y="370332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74136" y="3721608"/>
            <a:ext cx="128016" cy="21762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886200"/>
            <a:ext cx="24048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Etiquetado PLU (Sinclair CPL)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367528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Reino Unido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5032" y="384962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F5A623"/>
                </a:solidFill>
                <a:latin typeface="Calibri"/>
              </a:rPr>
              <a:t>FUNCIÓN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5032" y="406908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Aplica una etiqueta PLU a cada aguacate dispuesto en bandeja, en un solo paso.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85032" y="471830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41064" y="467258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Partes: hasta 16 cabezales aplicadores, cepillos de fijación, banda motorizada, HMI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85032" y="502462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41064" y="497890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Datasheet: hasta 2,640 bandejas/h; etiqueta 18–26 mm; reconocimiento de patrón A/B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85032" y="533095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41064" y="528523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Sistemas multi-carril hasta 720 frutas/min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85032" y="551383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5A623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Por cotización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1" y="551383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5A623"/>
                </a:solidFill>
                <a:latin typeface="Calibri"/>
              </a:rPr>
              <a:t>Dónde: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Sinclair International (datasheet PDF)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5A623"/>
                </a:solidFill>
                <a:latin typeface="Calibri"/>
              </a:rPr>
              <a:t>ETAPA 4 · EMPAQUE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Embalaje y paletizado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proceso de aguacate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8016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28016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4136" y="1298448"/>
            <a:ext cx="128016" cy="21762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463040"/>
            <a:ext cx="24048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Embalaje: malla/clip · flow pack · case packer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44368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Volm · ULMA · Van Doren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142646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F5A623"/>
                </a:solidFill>
                <a:latin typeface="Calibri"/>
              </a:rPr>
              <a:t>FUNCIÓN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164592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Empaca en malla (2–4 uds.), envoltura flow pack o arma y llena la caja de cartón.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85032" y="229514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41064" y="224942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Partes: cabezal clipador de doble grapa, mordazas selladoras, ventosas, magazine de cajas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85032" y="260146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41064" y="255574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Malla: Volm/NNZ · Flow pack HFFS: ULMA · Case packer robótico: Van Doren COR, FANUC/ABB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85032" y="290779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41064" y="286207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Robot Aporo (Robotics Plus): 100–120 frutas/min con ventosas (trato suave)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5032" y="309067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5A623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Clipadoras: gama económica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2671" y="309067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5A623"/>
                </a:solidFill>
                <a:latin typeface="Calibri"/>
              </a:rPr>
              <a:t>Dónde: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Volm, NNZ, ULMA, Robotics Plus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70332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3232" y="370332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74136" y="3721608"/>
            <a:ext cx="128016" cy="21762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886200"/>
            <a:ext cx="24048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Paletizado robótico + envoltura de tarima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367528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ABB · FANUC · KUKA · Robopac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5032" y="384962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F5A623"/>
                </a:solidFill>
                <a:latin typeface="Calibri"/>
              </a:rPr>
              <a:t>FUNCIÓN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5032" y="406908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Apila las cajas en la tarima por patrón y la envuelve con film estirable para transporte.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85032" y="471830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41064" y="467258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Partes: robot 4–6 ejes, garra de vacío, mesa giratoria, carro de film pre-estirado, PLC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85032" y="502462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41064" y="497890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Datasheet: ABB IRB 460/660 ~2,000 ciclos/h; Robopac Masterplat turntable 2,000 kg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85032" y="533095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41064" y="528523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Opción china KR-120: 6 ejes, 120 kg, ciclo 8 s, 17–25 kW, aire 7 bar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85032" y="551383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5A623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Paletizador chino KR-120: USD 23,000–24,000/set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1" y="551383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F5A623"/>
                </a:solidFill>
                <a:latin typeface="Calibri"/>
              </a:rPr>
              <a:t>Dónde: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ABB/FANUC/KUKA; Robopac, Signode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213A"/>
                </a:solidFill>
                <a:latin typeface="Calibri"/>
              </a:rPr>
              <a:t>ETAPA 5 · CADENA DE FRÍO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Preenfriamiento por aire forzado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proceso de aguacate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8016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28016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4136" y="1298448"/>
            <a:ext cx="128016" cy="2176272"/>
          </a:xfrm>
          <a:prstGeom prst="rect">
            <a:avLst/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463040"/>
            <a:ext cx="24048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Global Cooling Jet-Ready Precooler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44368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EE. UU.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142646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213A"/>
                </a:solidFill>
                <a:latin typeface="Calibri"/>
              </a:rPr>
              <a:t>FUNCIÓN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164592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Baja la temperatura de la pulpa rápidamente tras cosecha para frenar la maduración.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85032" y="229514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41064" y="224942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Partes: 2 ventiladores de 10 HP, bastidor de acero galvanizado, plénum, cortinas de sellado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85032" y="260146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41064" y="255574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Datasheet: &gt; 4,000 CFM por pallet, operando con 8 pallets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85032" y="290779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41064" y="286207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Aire refrigerado succionado horizontalmente a través de las cajas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5032" y="309067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E213A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Por cotización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2671" y="309067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E213A"/>
                </a:solidFill>
                <a:latin typeface="Calibri"/>
              </a:rPr>
              <a:t>Dónde: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Global Cooling Inc. (EE.UU.)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70332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3232" y="370332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74136" y="3721608"/>
            <a:ext cx="128016" cy="2176272"/>
          </a:xfrm>
          <a:prstGeom prst="rect">
            <a:avLst/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886200"/>
            <a:ext cx="24048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Otros preenfriadores (TRJ · MACS · chinos)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367528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EE. UU. · China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5032" y="384962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213A"/>
                </a:solidFill>
                <a:latin typeface="Calibri"/>
              </a:rPr>
              <a:t>FUNCIÓN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5032" y="406908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Unidades de aire forzado portátiles o automáticas integradas a la cámara.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85032" y="471830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41064" y="467258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TRJ 'SuperFlow'; MACS Cool (automático por lotes de 6 pallets)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85032" y="502462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41064" y="497890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Referencia de capacidad: enfriar 40 t de aguacate en 24 h con 160 kW instalados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85032" y="533095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41064" y="528523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Precoolers chinos (Coldmax, Hejia): opción de bajo costo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85032" y="551383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E213A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Chinos: gama baja; marca: cotización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1" y="551383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E213A"/>
                </a:solidFill>
                <a:latin typeface="Calibri"/>
              </a:rPr>
              <a:t>Dónde: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TRJ, MACS Cool, Coldmax, InspiraFarms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213A"/>
                </a:solidFill>
                <a:latin typeface="Calibri"/>
              </a:rPr>
              <a:t>ETAPA 5 · CADENA DE FRÍO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Refrigeración y atmósfera controlada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proceso de aguacate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8016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28016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4136" y="1298448"/>
            <a:ext cx="128016" cy="2176272"/>
          </a:xfrm>
          <a:prstGeom prst="rect">
            <a:avLst/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463040"/>
            <a:ext cx="24048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Cámara de refrigeración (cold room)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44368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Global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142646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213A"/>
                </a:solidFill>
                <a:latin typeface="Calibri"/>
              </a:rPr>
              <a:t>FUNCIÓN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164592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Almacena el aguacate a ~4–7 °C para conservar calidad hasta el despacho.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85032" y="229514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41064" y="224942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Partes: unidad condensadora (compresor), evaporadores, paneles aislantes de poliuretano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85032" y="260146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41064" y="255574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Sistemas DX (directa) para capacidades chicas/medias; chiller para plantas grandes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85032" y="290779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41064" y="286207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Control de temperatura y humedad relativa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5032" y="309067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E213A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Por m³, baja al subir el volumen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2671" y="309067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E213A"/>
                </a:solidFill>
                <a:latin typeface="Calibri"/>
              </a:rPr>
              <a:t>Dónde: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Frigomekanik, InspiraFarms, chinos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70332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3232" y="370332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74136" y="3721608"/>
            <a:ext cx="128016" cy="2176272"/>
          </a:xfrm>
          <a:prstGeom prst="rect">
            <a:avLst/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886200"/>
            <a:ext cx="24048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Atmósfera controlada — generador N₂ PSA (Absoger F75)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367528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Francia · Italia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5032" y="384962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213A"/>
                </a:solidFill>
                <a:latin typeface="Calibri"/>
              </a:rPr>
              <a:t>FUNCIÓN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5032" y="406908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Genera nitrógeno para desplazar el O₂ y bajar la cámara/contenedor a atmósfera controlada.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85032" y="471830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41064" y="467258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Partes: torres con tamiz molecular de carbono, compresor, scrubber de CO₂, controlador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85032" y="502462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41064" y="497890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Datasheet (Absoger PSA F75): 209 m³/h a 2% O₂, 8 bar, compresores 55 kW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85032" y="533095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41064" y="528523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Trata 100–1,200 t de fruta/día; usado en contenedores CA para exportación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85032" y="551383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E213A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Por cotización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1" y="551383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E213A"/>
                </a:solidFill>
                <a:latin typeface="Calibri"/>
              </a:rPr>
              <a:t>Dónde: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Absoger (FR), Isolcell (IT)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213A"/>
                </a:solidFill>
                <a:latin typeface="Calibri"/>
              </a:rPr>
              <a:t>ETAPA 5 · CADENA DE FRÍO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Maduración con etileno ('ripe &amp; ready')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proceso de aguacate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8016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28016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4136" y="1298448"/>
            <a:ext cx="128016" cy="2176272"/>
          </a:xfrm>
          <a:prstGeom prst="rect">
            <a:avLst/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463040"/>
            <a:ext cx="24048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Generador de etileno Catalytic Easy-Ripe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44368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EE. UU.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142646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213A"/>
                </a:solidFill>
                <a:latin typeface="Calibri"/>
              </a:rPr>
              <a:t>FUNCIÓN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164592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Genera etileno controlado a partir de concentrado líquido para una maduración uniforme.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85032" y="229514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41064" y="224942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Partes: cámara catalítica calefactada, depósito de 2 L, controlador de tasa ajustable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85032" y="260146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41064" y="255574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Datasheet: 160 W; 0.5–2 L etileno/24 h; cuarto de 57 a 285 m³; 31×24×25 cm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85032" y="290779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41064" y="286207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Parámetros aguacate: 100 ppm etileno, 15–20 °C, 90–95% HR, controlar CO₂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5032" y="309067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E213A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Por cotización (QA Supplies, HundredX)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2671" y="309067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E213A"/>
                </a:solidFill>
                <a:latin typeface="Calibri"/>
              </a:rPr>
              <a:t>Dónde: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Catalytic Generators (EE.UU.)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703320"/>
            <a:ext cx="10771632" cy="22128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3232" y="3703320"/>
            <a:ext cx="2788920" cy="2212848"/>
          </a:xfrm>
          <a:prstGeom prst="roundRect">
            <a:avLst>
              <a:gd name="adj" fmla="val 5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74136" y="3721608"/>
            <a:ext cx="128016" cy="2176272"/>
          </a:xfrm>
          <a:prstGeom prst="rect">
            <a:avLst/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886200"/>
            <a:ext cx="24048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Cuartos de maduración llave en mano (Interko OPTIMO)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367528"/>
            <a:ext cx="24048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●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Países Bajos · UK · EE.UU.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5032" y="3849624"/>
            <a:ext cx="7543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213A"/>
                </a:solidFill>
                <a:latin typeface="Calibri"/>
              </a:rPr>
              <a:t>FUNCIÓN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5032" y="4069080"/>
            <a:ext cx="7543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Cuarto completo que controla aire, temperatura, humedad, O₂, CO₂ y etileno.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85032" y="4718304"/>
            <a:ext cx="118872" cy="118872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41064" y="4672584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Partes: ventiladores reversibles, evaporadores, control integrado, inyección de etileno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85032" y="5024628"/>
            <a:ext cx="118872" cy="118872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41064" y="4978908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Interko OPTIMO: 8–24 pallets; también Softripe (JD Cooling), DASERCO, Thermal Tech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85032" y="5330952"/>
            <a:ext cx="118872" cy="118872"/>
          </a:xfrm>
          <a:prstGeom prst="roundRect">
            <a:avLst>
              <a:gd name="adj" fmla="val 6000"/>
            </a:avLst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41064" y="5285232"/>
            <a:ext cx="7269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Instrumentación de control: Felix AccuRipe / F-950 (CO₂/O₂/etileno)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85032" y="5513832"/>
            <a:ext cx="3931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E213A"/>
                </a:solidFill>
                <a:latin typeface="Calibri"/>
              </a:rPr>
              <a:t>Costo: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Por cotización (proyecto)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1" y="5513832"/>
            <a:ext cx="35661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E213A"/>
                </a:solidFill>
                <a:latin typeface="Calibri"/>
              </a:rPr>
              <a:t>Dónde:  </a:t>
            </a:r>
            <a:r>
              <a:rPr sz="1000" b="0" i="0">
                <a:solidFill>
                  <a:srgbClr val="1A2432"/>
                </a:solidFill>
                <a:latin typeface="Calibri"/>
              </a:rPr>
              <a:t>Interko (NL), JD Cooling (UK), DASERCO (EE.UU.)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D6CDF"/>
                </a:solidFill>
                <a:latin typeface="Calibri"/>
              </a:rPr>
              <a:t>ECONOMÍA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Costos: qué cuesta cada bloque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proceso de aguacate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25880"/>
            <a:ext cx="10771632" cy="5669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325880"/>
            <a:ext cx="109728" cy="566928"/>
          </a:xfrm>
          <a:prstGeom prst="rect">
            <a:avLst/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325880"/>
            <a:ext cx="4663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213A"/>
                </a:solidFill>
                <a:latin typeface="Calibri"/>
              </a:rPr>
              <a:t>Herramientas de cosecha manual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1325880"/>
            <a:ext cx="2880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EA84F"/>
                </a:solidFill>
                <a:latin typeface="Calibri"/>
              </a:rPr>
              <a:t>USD 22 – 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1325880"/>
            <a:ext cx="2788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5B6674"/>
                </a:solidFill>
                <a:latin typeface="Calibri"/>
              </a:rPr>
              <a:t>Tijeras, pértigas, bolsas (Lobo Products)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1984248"/>
            <a:ext cx="10771632" cy="5669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" y="1984248"/>
            <a:ext cx="109728" cy="566928"/>
          </a:xfrm>
          <a:prstGeom prst="rect">
            <a:avLst/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1984248"/>
            <a:ext cx="4663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213A"/>
                </a:solidFill>
                <a:latin typeface="Calibri"/>
              </a:rPr>
              <a:t>Bins plásticos ventilados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1984248"/>
            <a:ext cx="2880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EA84F"/>
                </a:solidFill>
                <a:latin typeface="Calibri"/>
              </a:rPr>
              <a:t>USD 189 – 349 c/u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1984248"/>
            <a:ext cx="2788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5B6674"/>
                </a:solidFill>
                <a:latin typeface="Calibri"/>
              </a:rPr>
              <a:t>MacroBin (Pallets &amp; Bins)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2642616"/>
            <a:ext cx="10771632" cy="5669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2642616"/>
            <a:ext cx="109728" cy="566928"/>
          </a:xfrm>
          <a:prstGeom prst="rect">
            <a:avLst/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2642616"/>
            <a:ext cx="4663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213A"/>
                </a:solidFill>
                <a:latin typeface="Calibri"/>
              </a:rPr>
              <a:t>Medidor NIR de mano (materia seca)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2642616"/>
            <a:ext cx="2880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8C2D6"/>
                </a:solidFill>
                <a:latin typeface="Calibri"/>
              </a:rPr>
              <a:t>≈ USD 5,400 (£4,263)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2642616"/>
            <a:ext cx="2788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5B6674"/>
                </a:solidFill>
                <a:latin typeface="Calibri"/>
              </a:rPr>
              <a:t>Felix F-751 (distribuidores UK)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300984"/>
            <a:ext cx="10771632" cy="5669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" y="3300984"/>
            <a:ext cx="109728" cy="56692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3300984"/>
            <a:ext cx="4663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213A"/>
                </a:solidFill>
                <a:latin typeface="Calibri"/>
              </a:rPr>
              <a:t>Paletizador robótico (China, KR-120)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0" y="3300984"/>
            <a:ext cx="2880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5A623"/>
                </a:solidFill>
                <a:latin typeface="Calibri"/>
              </a:rPr>
              <a:t>USD 23,000 – 24,000 / set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3300984"/>
            <a:ext cx="2788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5B6674"/>
                </a:solidFill>
                <a:latin typeface="Calibri"/>
              </a:rPr>
              <a:t>Único precio público concreto (FOB China)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3959352"/>
            <a:ext cx="10771632" cy="5669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3232" y="3959352"/>
            <a:ext cx="109728" cy="566928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3959352"/>
            <a:ext cx="4663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213A"/>
                </a:solidFill>
                <a:latin typeface="Calibri"/>
              </a:rPr>
              <a:t>Línea china completa (lavado→calibrado)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0" y="3959352"/>
            <a:ext cx="2880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D6CDF"/>
                </a:solidFill>
                <a:latin typeface="Calibri"/>
              </a:rPr>
              <a:t>USD 7,000 – 50,000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0" y="3959352"/>
            <a:ext cx="2788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5B6674"/>
                </a:solidFill>
                <a:latin typeface="Calibri"/>
              </a:rPr>
              <a:t>12-grados ~USD 15,000/set; módulo simple desde USD 1,400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3232" y="4617720"/>
            <a:ext cx="10771632" cy="5669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13232" y="4617720"/>
            <a:ext cx="109728" cy="566928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4617720"/>
            <a:ext cx="4663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213A"/>
                </a:solidFill>
                <a:latin typeface="Calibri"/>
              </a:rPr>
              <a:t>Línea integrada media / alta (multicarril)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4617720"/>
            <a:ext cx="2880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D6CDF"/>
                </a:solidFill>
                <a:latin typeface="Calibri"/>
              </a:rPr>
              <a:t>USD 80,000 – 400,000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60" y="4617720"/>
            <a:ext cx="2788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5B6674"/>
                </a:solidFill>
                <a:latin typeface="Calibri"/>
              </a:rPr>
              <a:t>Sorting/grading integrado (sin obra ni frío)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" y="5276088"/>
            <a:ext cx="10771632" cy="5669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13232" y="5276088"/>
            <a:ext cx="109728" cy="566928"/>
          </a:xfrm>
          <a:prstGeom prst="rect">
            <a:avLst/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0120" y="5276088"/>
            <a:ext cx="4663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213A"/>
                </a:solidFill>
                <a:latin typeface="Calibri"/>
              </a:rPr>
              <a:t>Línea premium turnkey + NIR interno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5276088"/>
            <a:ext cx="2880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213A"/>
                </a:solidFill>
                <a:latin typeface="Calibri"/>
              </a:rPr>
              <a:t>Cientos de miles a millones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95360" y="5276088"/>
            <a:ext cx="2788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5B6674"/>
                </a:solidFill>
                <a:latin typeface="Calibri"/>
              </a:rPr>
              <a:t>TOMRA / MAF / GREEFA — solo por cotización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" y="6108192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5B6674"/>
                </a:solidFill>
                <a:latin typeface="Calibri"/>
              </a:rPr>
              <a:t>La cadena de frío (preenfriado, cámaras, CA y maduración) se cotiza aparte por proyecto y suele sumar tanto o más que la línea de calibrado.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D6CDF"/>
                </a:solidFill>
                <a:latin typeface="Calibri"/>
              </a:rPr>
              <a:t>DÓNDE SE OBTIENE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Proveedores por bloque y región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proceso de aguacate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10771632" cy="69494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371600"/>
            <a:ext cx="109728" cy="694944"/>
          </a:xfrm>
          <a:prstGeom prst="rect">
            <a:avLst/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444752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213A"/>
                </a:solidFill>
                <a:latin typeface="Calibri"/>
              </a:rPr>
              <a:t>Cosecha (herramientas y plataformas)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737360"/>
            <a:ext cx="10378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Manzana Nules (ES) · Lobo Products (EE.UU.) · Munckhof (NL) · Revo, Billo (IT) · Terravocado (CO)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157984"/>
            <a:ext cx="10771632" cy="69494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157984"/>
            <a:ext cx="109728" cy="694944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231136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213A"/>
                </a:solidFill>
                <a:latin typeface="Calibri"/>
              </a:rPr>
              <a:t>Recepción, lavado y calibrado — alta tecnología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523744"/>
            <a:ext cx="10378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MAF Roda (FR) · GREEFA, Aweta (NL) · Unitec (IT) · Multiscan (ES) · TOMRA (NO/NZ) · Van Doren (EE.UU.) · GP Graders (AU)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2944368"/>
            <a:ext cx="10771632" cy="69494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13232" y="2944368"/>
            <a:ext cx="109728" cy="694944"/>
          </a:xfrm>
          <a:prstGeom prst="rect">
            <a:avLst/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017520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213A"/>
                </a:solidFill>
                <a:latin typeface="Calibri"/>
              </a:rPr>
              <a:t>Línea completa de bajo costo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310128"/>
            <a:ext cx="10378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Reemoon · Gelgoog · fruitprocess (China) — líneas lavado+secado+encerado+calibrado 1–20 t/h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730752"/>
            <a:ext cx="10771632" cy="69494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730752"/>
            <a:ext cx="109728" cy="69494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803904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213A"/>
                </a:solidFill>
                <a:latin typeface="Calibri"/>
              </a:rPr>
              <a:t>Empaque, etiquetado y paletizado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096512"/>
            <a:ext cx="10378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Sinclair (UK) · Robotics Plus (NZ) · Volm, NNZ (EE.UU.) · ULMA (ES) · ABB/FANUC/KUKA · Robopac, Signode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4517136"/>
            <a:ext cx="10771632" cy="69494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" y="4517136"/>
            <a:ext cx="109728" cy="694944"/>
          </a:xfrm>
          <a:prstGeom prst="rect">
            <a:avLst/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4590288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213A"/>
                </a:solidFill>
                <a:latin typeface="Calibri"/>
              </a:rPr>
              <a:t>Cadena de frío, atmósfera controlada y maduración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882896"/>
            <a:ext cx="10378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Global Cooling, TRJ, Catalytic (EE.UU.) · Interko, Van Amerongen (NL) · Softripe/JD Cooling (UK) · Absoger (FR) · Isolcell (IT) · InspiraFarms (UK/Kenia)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5303520"/>
            <a:ext cx="10771632" cy="69494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3232" y="5303520"/>
            <a:ext cx="109728" cy="694944"/>
          </a:xfrm>
          <a:prstGeom prst="rect">
            <a:avLst/>
          </a:prstGeom>
          <a:solidFill>
            <a:srgbClr val="5B66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5376672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213A"/>
                </a:solidFill>
                <a:latin typeface="Calibri"/>
              </a:rPr>
              <a:t>Representantes / integración en LATAM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669280"/>
            <a:ext cx="10378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5B6674"/>
                </a:solidFill>
                <a:latin typeface="Calibri"/>
              </a:rPr>
              <a:t>Berjeda (ES) y ASLAN Industrial (MX) instalan en México, Perú, Chile y Colombia · usados en Duijndam Machines (NL), Machinio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D6CDF"/>
                </a:solidFill>
                <a:latin typeface="Calibri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Datasheets y fuentes oficiales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proceso de aguacate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8016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D6CDF"/>
                </a:solidFill>
                <a:latin typeface="Calibri"/>
              </a:rPr>
              <a:t>DATASHEETS / CATÁLOGOS (PDF)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682496"/>
            <a:ext cx="137160" cy="137160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645920"/>
            <a:ext cx="5029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Sinclair CPL — etiquetadora de patrón (PDF)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157984"/>
            <a:ext cx="137160" cy="137160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121408"/>
            <a:ext cx="5029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Munckhof Pluk-O-Trak — brochure (PDF)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2633472"/>
            <a:ext cx="137160" cy="137160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596896"/>
            <a:ext cx="5029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Revo Piuma 4WD — catálogo AgriExpo (PDF)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3108960"/>
            <a:ext cx="137160" cy="137160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072384"/>
            <a:ext cx="5029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Catalytic Easy-Ripe — datasheet generador etileno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3584448"/>
            <a:ext cx="137160" cy="137160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547872"/>
            <a:ext cx="5029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Absoger PSA F75 — generador N₂ (postharvest.biz)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4059936"/>
            <a:ext cx="137160" cy="137160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023360"/>
            <a:ext cx="5029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A2432"/>
                </a:solidFill>
                <a:latin typeface="Calibri"/>
              </a:rPr>
              <a:t>Felix F-751 — Avocado Quality Meter (NIR)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128016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D6CDF"/>
                </a:solidFill>
                <a:latin typeface="Calibri"/>
              </a:rPr>
              <a:t>SITIOS DE FABRICANTES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1682496"/>
            <a:ext cx="137160" cy="137160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6248" y="1645920"/>
            <a:ext cx="4937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tomra.com/food/categories/fruit/avocados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2157984"/>
            <a:ext cx="137160" cy="137160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56248" y="2121408"/>
            <a:ext cx="4937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greefa.com · maf-roda.com · aweta.com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633472"/>
            <a:ext cx="137160" cy="137160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56248" y="2596896"/>
            <a:ext cx="4937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gpgraders.com · unisorting.com · multiscan.eu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3108960"/>
            <a:ext cx="137160" cy="137160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072384"/>
            <a:ext cx="4937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vandorensales.com · sinclair-intl.com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3584448"/>
            <a:ext cx="137160" cy="137160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56248" y="3547872"/>
            <a:ext cx="4937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roboticsplus.co.nz · volmcompanies.com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4059936"/>
            <a:ext cx="137160" cy="137160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56248" y="4023360"/>
            <a:ext cx="4937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catalyticgenerators.com · interko.com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4535424"/>
            <a:ext cx="137160" cy="137160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56248" y="4498848"/>
            <a:ext cx="4937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felixinstruments.com · inspirafarms.com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09360" y="5010912"/>
            <a:ext cx="137160" cy="137160"/>
          </a:xfrm>
          <a:prstGeom prst="roundRect">
            <a:avLst>
              <a:gd name="adj" fmla="val 6000"/>
            </a:avLst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56248" y="4974336"/>
            <a:ext cx="4937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A2432"/>
                </a:solidFill>
                <a:latin typeface="Calibri"/>
              </a:rPr>
              <a:t>manzana-nules.com · loboproductsinc.com · munckhof.org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" y="5943600"/>
            <a:ext cx="10771632" cy="4572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5943600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2D6CDF"/>
                </a:solidFill>
                <a:latin typeface="Calibri"/>
              </a:rPr>
              <a:t>Nota: </a:t>
            </a:r>
            <a:r>
              <a:rPr sz="1050" b="0" i="0">
                <a:solidFill>
                  <a:srgbClr val="5B6674"/>
                </a:solidFill>
                <a:latin typeface="Calibri"/>
              </a:rPr>
              <a:t>los precios y specs de equipos de marca casi nunca son públicos; donde no hay dato verificable se indicó 'por cotización'. Verificar con el fabricante.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82296" cy="45720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5603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D6CDF"/>
                </a:solidFill>
                <a:latin typeface="Calibri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 i="0">
                <a:solidFill>
                  <a:srgbClr val="0E213A"/>
                </a:solidFill>
                <a:latin typeface="Calibri"/>
              </a:rPr>
              <a:t>Hallazgos clave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60704"/>
            <a:ext cx="11183112" cy="15240"/>
          </a:xfrm>
          <a:prstGeom prst="rect">
            <a:avLst/>
          </a:prstGeom>
          <a:solidFill>
            <a:srgbClr val="D9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D6CDF"/>
                </a:solidFill>
                <a:latin typeface="Calibri"/>
              </a:rPr>
              <a:t>Howy</a:t>
            </a:r>
            <a:r>
              <a:rPr sz="900" b="0" i="0">
                <a:solidFill>
                  <a:srgbClr val="5B6674"/>
                </a:solidFill>
                <a:latin typeface="Calibri"/>
              </a:rPr>
              <a:t>  ·  Maquinaria del proceso de aguacate —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B6674"/>
                </a:solidFill>
                <a:latin typeface="Calibri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57200" cy="457200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3716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353312"/>
            <a:ext cx="10149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0E213A"/>
                </a:solidFill>
                <a:latin typeface="Calibri"/>
              </a:rPr>
              <a:t>El fruto manda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700784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6674"/>
                </a:solidFill>
                <a:latin typeface="Calibri"/>
              </a:rPr>
              <a:t>El aguacate es delicado: toda la maquinaria prioriza el trato suave (volteo seco, cintas acolchadas, ventosas, giro controlado).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304288"/>
            <a:ext cx="457200" cy="457200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3042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286000"/>
            <a:ext cx="10149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0E213A"/>
                </a:solidFill>
                <a:latin typeface="Calibri"/>
              </a:rPr>
              <a:t>Cosecha manual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2633472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6674"/>
                </a:solidFill>
                <a:latin typeface="Calibri"/>
              </a:rPr>
              <a:t>No existe cosecha mecánica viable: el vibrador causa 90–95% de magullado y daña el árbol. Se usa tijera + pértiga + bolsa y plataformas de apoyo.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236976"/>
            <a:ext cx="457200" cy="457200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23697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3218688"/>
            <a:ext cx="10149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0E213A"/>
                </a:solidFill>
                <a:latin typeface="Calibri"/>
              </a:rPr>
              <a:t>El corazón es la visión + NIR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56616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6674"/>
                </a:solidFill>
                <a:latin typeface="Calibri"/>
              </a:rPr>
              <a:t>La tecnología de punta está en la selección óptica (IA) y el NIR de materia seca, que mide la madurez sin cortar el fruto.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169664"/>
            <a:ext cx="457200" cy="457200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416966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151376"/>
            <a:ext cx="10149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0E213A"/>
                </a:solidFill>
                <a:latin typeface="Calibri"/>
              </a:rPr>
              <a:t>Inversión escalable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4498848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6674"/>
                </a:solidFill>
                <a:latin typeface="Calibri"/>
              </a:rPr>
              <a:t>Desde herramientas de decenas de dólares y líneas chinas (USD 1.4k–8k) hasta líneas premium de cientos de miles a millones.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5102352"/>
            <a:ext cx="457200" cy="457200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510235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5084064"/>
            <a:ext cx="10149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0E213A"/>
                </a:solidFill>
                <a:latin typeface="Calibri"/>
              </a:rPr>
              <a:t>Geografía del mercado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5431536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6674"/>
                </a:solidFill>
                <a:latin typeface="Calibri"/>
              </a:rPr>
              <a:t>Europa, EE.UU. y Australia lideran la alta tecnología; China ofrece bajo costo; LATAM compra vía representantes e integra localmente.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1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349240" y="2148840"/>
            <a:ext cx="658368" cy="658368"/>
          </a:xfrm>
          <a:prstGeom prst="roundRect">
            <a:avLst>
              <a:gd name="adj" fmla="val 6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49240" y="214884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063240"/>
            <a:ext cx="121916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Gracias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886200"/>
            <a:ext cx="121916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C6D3E6"/>
                </a:solidFill>
                <a:latin typeface="Calibri"/>
              </a:rPr>
              <a:t>Del árbol al contenedor: toda la maquinaria del aguacate, mapeada.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12648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8C2D6"/>
                </a:solidFill>
                <a:latin typeface="Calibri"/>
              </a:rPr>
              <a:t>Howy</a:t>
            </a:r>
            <a:r>
              <a:rPr sz="1200" b="0" i="0">
                <a:solidFill>
                  <a:srgbClr val="9FB2CD"/>
                </a:solidFill>
                <a:latin typeface="Calibri"/>
              </a:rPr>
              <a:t>   ·   Investigación técnica   ·   Julio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