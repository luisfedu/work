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36208"/>
            <a:ext cx="12191695" cy="54864"/>
          </a:xfrm>
          <a:prstGeom prst="rect">
            <a:avLst/>
          </a:prstGeom>
          <a:solidFill>
            <a:srgbClr val="C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3152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7315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8C2D6"/>
                </a:solidFill>
                <a:latin typeface="Calibri"/>
              </a:rPr>
              <a:t>PRESENTACIÓN EJECUTIVA · INVESTIGACIÓN 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Maquinaria del proceso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del nopal y la tuna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EA84F"/>
                </a:solidFill>
                <a:latin typeface="Calibri"/>
              </a:rPr>
              <a:t>Enfoque: </a:t>
            </a:r>
            <a:r>
              <a:rPr sz="1700" b="0" i="0">
                <a:solidFill>
                  <a:srgbClr val="C6D3E6"/>
                </a:solidFill>
                <a:latin typeface="Calibri"/>
              </a:rPr>
              <a:t>componentes para una réplica mexicana (fabricación nacional) en lugar de importar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FB2CD"/>
                </a:solidFill>
                <a:latin typeface="Calibri"/>
              </a:rPr>
              <a:t>Cosecha · desespinado · lavado · corte · deshidratado · molienda · empaque · componentes MX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FB2CD"/>
                </a:solidFill>
                <a:latin typeface="Calibri"/>
              </a:rP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México produce el nopal; puede producir la máquina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B6674"/>
                </a:solidFill>
                <a:latin typeface="Calibri"/>
              </a:rPr>
              <a:t>México es el primer productor mundial de nopal y tuna, pero la maquinaria industrial más completa suele importarse. La buena noticia: casi toda la línea es replicable en México con talleres de acero inoxidable y componentes de catálogo (motores, bandas, cepillos, cuchillas) de venta nacional.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331720"/>
            <a:ext cx="2606040" cy="82296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2EA84F"/>
                </a:solidFill>
                <a:latin typeface="Calibri"/>
              </a:rPr>
              <a:t>#1</a:t>
            </a:r>
            <a:r>
              <a:rPr sz="1150" b="1" i="0">
                <a:solidFill>
                  <a:srgbClr val="0E213A"/>
                </a:solidFill>
                <a:latin typeface="Calibri"/>
              </a:rPr>
              <a:t>  productor mundial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~845 mil t de nopal 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~409 mil t de tuna (2024).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2331720"/>
            <a:ext cx="2606040" cy="8229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2D6CDF"/>
                </a:solidFill>
                <a:latin typeface="Calibri"/>
              </a:rPr>
              <a:t>80-90%</a:t>
            </a:r>
            <a:r>
              <a:rPr sz="1150" b="1" i="0">
                <a:solidFill>
                  <a:srgbClr val="0E213A"/>
                </a:solidFill>
                <a:latin typeface="Calibri"/>
              </a:rPr>
              <a:t>  componentes de catálogo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Estructura inox + piezas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estándar nacionales.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2331720"/>
            <a:ext cx="2606040" cy="82296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8C2D6"/>
                </a:solidFill>
                <a:latin typeface="Calibri"/>
              </a:rPr>
              <a:t>20-25</a:t>
            </a:r>
            <a:r>
              <a:rPr sz="1150" b="1" i="0">
                <a:solidFill>
                  <a:srgbClr val="0E213A"/>
                </a:solidFill>
                <a:latin typeface="Calibri"/>
              </a:rPr>
              <a:t>  nopales/min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Una desespinadora vs. 5-6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 mano: cuello de botella.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2331720"/>
            <a:ext cx="2606040" cy="18745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2331720"/>
            <a:ext cx="260604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551176"/>
            <a:ext cx="227685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5A623"/>
                </a:solidFill>
                <a:latin typeface="Calibri"/>
              </a:rPr>
              <a:t>MX</a:t>
            </a:r>
            <a:r>
              <a:rPr sz="1150" b="1" i="0">
                <a:solidFill>
                  <a:srgbClr val="0E213A"/>
                </a:solidFill>
                <a:latin typeface="Calibri"/>
              </a:rPr>
              <a:t>  ya lo fabrica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264408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Nopalea, DESINOX, INALSA,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VEYCO, Equitek, Tecnodac.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526280"/>
            <a:ext cx="10771632" cy="1508760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81728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8C2D6"/>
                </a:solidFill>
                <a:latin typeface="Calibri"/>
              </a:rPr>
              <a:t>TESIS DE ESTA PRESENTACIÓN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10241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 maquinaria de nopal no es tecnología cerrada: es una estructura de acero inoxidable 304 + componentes electromecánicos estándar (motores WEG, rodamientos SKF, cepillos a medida, variadores Delta). Fabricar en México da refacciones inmediatas, adaptación a la variedad local y menor costo total. Solo el corte de precisión y el control fino (PLC/servo/vacío) ameritan compra especializada.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ESTRUCTURA DE LA LÍNEA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Mapa del proceso (nopal-verdura)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COSECHA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371600"/>
            <a:ext cx="1433779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 · Corte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5579" y="1371600"/>
            <a:ext cx="1755647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 · Acarreo en cajas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95144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95144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LIMPIEZA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340864"/>
            <a:ext cx="2157984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 · Recepción y selección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2340864"/>
            <a:ext cx="2157984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 · Lavado / desinfección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9208" y="2340864"/>
            <a:ext cx="1353311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 · Desespinado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59" y="2340864"/>
            <a:ext cx="1353311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 · Desorillado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64408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64408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TRANSFORMA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310128"/>
            <a:ext cx="1997049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 · Corte (cubos/tiras)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8849" y="3310128"/>
            <a:ext cx="22384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 · Escaldado (quita baba)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8740" y="3310128"/>
            <a:ext cx="1111910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 · Enfriado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233672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233672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SECO / CONSERVA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279392"/>
            <a:ext cx="151424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 · Deshidratado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6046" y="4279392"/>
            <a:ext cx="207751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11 · Molienda + tamizado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5002" y="4279392"/>
            <a:ext cx="191658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12 · Despulpado / jugo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202936"/>
            <a:ext cx="2011680" cy="85953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202936"/>
            <a:ext cx="201168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EMPAQUE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5248656"/>
            <a:ext cx="3123590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13 · Envasado (fresco/salmuera/polvo)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5390" y="5248656"/>
            <a:ext cx="1353311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14 · Etiquetado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0141" y="5248656"/>
            <a:ext cx="1111910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15 · Almacén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144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5B6674"/>
                </a:solidFill>
                <a:latin typeface="Calibri"/>
              </a:rPr>
              <a:t>Ruta de la TUNA (fruto): recepción → lavado → desespinado (cepillos en seco) → calibrado → empaque; o jugo (despulpado → pasteurizado).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ETAPA 1 · COSECHA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Herramientas de cosecha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c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Nacional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Corte manual (cuchillo curvo, navaja, tijeras)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Cortar el cladodio tierno (15-25 cm) sin dañar la penca madre; cortar la tuna (no jalar).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hoja de acero inoxidable o al carbono, mango de madera/plástico, resortes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Se recomienda cortar dejando la base para no desgarrar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Costo muy bajo (ferreterías, agroservicios, Mercado Libre)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Bajo (ferreterías)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Muy fácil (cuchillería nacional)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e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Nacional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EPP y acarreo (guantes anti-espina, pinzas, cajas)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Proteger manos de espinas y gloquidios (ahuates) y transportar el producto cosechado.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guante de piel/carnaza o kevlar, pinzas de acero/plástico, cajas HDPE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El guante se ensambla en México; solo la fibra kevlar suele importarse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Cajas y pinzas: proveedores agrícolas nacionales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Bajo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Fácil (piel/plástico nacional)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ETAPA 2 · 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Desespinado de nopal-verdura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desesp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· Nuevo León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Desespinadora 'Nopalli' (Nopalea)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Retira espinas de caras y bordes en un solo paso, sin lastimar el nopalito (eficiencia 80-95%).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motor 1 HP 110 V, rodillos de tracción, porta-cuchillas ajustable (tensión/ángulo/profundidad)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Estructura inox 304 + plástico grado alimenticio; ~200 kg/h; hasta 60 pencas/min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El fabricante declara 'refacciones convencionales, fáciles de conseguir'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~$15,000-100,000 MXN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100% 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desin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· Jalisco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Línea DESINOX (4 equipos) + patente MX WO2005011941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Lavadora + desespinadora + desorilladora + rayadora en inox 304; la patente MX es plano de referencia.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 (patente): rodillos auto-ajustables por resorte, cuchillas de doble filo intercambiables, paro de emergencia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Capacidad de la patente: 10-600 kg/h; módulos apilables para ambas caras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Referente nacional de 'línea completa' de nopal-verdura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Referente de réplica nacional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ETAPA 2 · 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Desespinado de tuna (fruto)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tuna_br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· Edo. de México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Desespinado por cepillos/rodillos en seco (prototipo IPN-UPIITA)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El fruto rueda entre cepillos/rodillos que arrancan gloquidios; el secado facilita el desprendimiento.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Etapas: dosificación → rodillos de desespinado → secado → recolector de espinas → clasificador por tamaño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Componentes: cilindro/tambor inox, cerdas de nylon, motorreductor, banda + rodillo inclinado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Arquitectura de referencia desarrollada por el IPN (mecatrónica)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Prototipo académico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Fabricable (inox + cerdas + motor)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agril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Internacional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Benchmark a NO importar: Agrilux (España) / Somca (Chile)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Líneas comerciales de desespinado en seco por rodillos; referencia de costo que justifica la réplica.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Agrilux: 300 / 600 / 1,000 / 2,000 kg/h; acero de alta resistencia (opción inox)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Precio Agrilux 300 kg/h: desde €12,270 (~US$13,000) → costo de importar a evitar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También Henan Saloni (China) fabrica desespinadora de cactus/nopal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desde €12,270 (importado)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Reemplazable por diseño nacional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8C2D6"/>
                </a:solidFill>
                <a:latin typeface="Calibri"/>
              </a:rPr>
              <a:t>ETAPA 2 · 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Lavado y desinfección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lav_inm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Lavadora por inmersión Tecnodac TSH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Lavado y desinfección por inmersión con turbulencia (agua clorada ~100-200 ppm).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tina y canastilla inox 304, motobomba inox, boquilla inyectora, volteo neumático, timer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25-150 kg por carga; ciclo 1-8 min; 220 V; requiere aire 6-7 kg/cm²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Todos los componentes son de mercado nacional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Fabricable (taller inox)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lav_burbuj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Lavado por burbujas y aspersión (Solifood, Citrus)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Burbujas + aspersores de alta presión para producto delicado (nopal cortado); recircula el agua.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tina inox 304/316 soldadura sanitaria, bomba inox, aspersores, variador de frecuencia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Componentes nacionales: bomba centrífuga inox, boquillas Spraying Systems, VFD Delta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Tecnologías: inmersión (robustos), aspersión (delicados), burbujeo (suciedad incrustada)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8C2D6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nacional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ETAPA 3 · TRANSFORMACIÓN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Corte y picado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picad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· Nuevo León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Picadora de nopal INALSA PN-27 / PN-54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Picado de nopal en volumen (alto tonelaje / industrial-forraje).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Potencia: motor eléctrico 7.5 HP, o gasolina 13 HP, o toma de fuerza (TDF) de tractor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PN-27 = 7 t/h (75×80×60 cm); PN-54 = 14 t/h (1.5×1.44×1.3 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Construcción metálica robusta de fabricación nacional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100% 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cortadora_cub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Italia (referencia)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Cortadora en cubos/juliana (benchmark Nilma) — réplica CNC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Corte continuo y uniforme en cubos, tiras o juliana para nopal fresco de mesa.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 a replicar: discos y rejillas de corte inox intercambiables, cámara inox, motorreductor, tolva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Es el ÚNICO punto que exige maquinado de precisión (discos/rejillas)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Existen talleres CNC en México (p. ej. Adek, Monterrey) para fabricar las cuchillas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Referencia (a replicar)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Media-alta (CNC nacional)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ETAPA 3 · TRANSFORMACIÓN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Escaldado (quita baba) y transporte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escald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Nacional (a medida)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Escaldadora (blanching) y enfriador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Agua hirviendo 3-5 min inactiva enzimas, fija el color y reduce el mucílago (baba); luego choque en frío.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tina inox 304 + resistencias eléctricas o quemador de gas + transportador de malla/tornillo + control de temperatura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Enfriador: tina/túnel de agua fría (hielo o chiller) con recirculación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100% fabricable por cualquier taller de acero inoxidable mexicano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A medida (taller inox)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ban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Bandas y mesas de selección inox (MATEX, Ferromat, Tecnibandas, ASLAN)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Transportar el producto entre etapas y seleccionar/descartar en mesa.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banda modular de plástico o malla inox, motorreductor (~0.75 kW), estructura AISI-304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Bandas modulares Intralox/Ammeraal disponibles vía distribuidores mexicanos (RYASA, SIMSA)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Rubro muy maduro localmente: fabricación fácil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D6CDF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metro (cotización)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Muy fácil (nacional)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5A623"/>
                </a:solidFill>
                <a:latin typeface="Calibri"/>
              </a:rPr>
              <a:t>ETAPA 4 · SECO / CONSERVA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Deshidratado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deshid_charo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· Puebla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Deshidratador de charolas (MT Maquinaria, VINCON)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Secar tiras/rebanadas por aire caliente forzado a 55-65 °C hasta ~5-10% de humedad (base para harina).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gabinete + charolas inox, quemador de gas L.P. de hierro colado o resistencias 1.5-2 kW, ventilador, termostato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VINCON 35-350 kg/h de entrada; gabinetes de 16-20 charolas ~20 kg/lote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Interior inox sin tornillos/remaches (higiene)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Gabinete $4-12k; industrial ~$100k MXN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deshid_s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(UNAM / IPN)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Deshidratador solar (≤60 °C) y de túnel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Secado de bajo costo operativo (solar) o continuo por carros (túnel) para volumen.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Solar: colector, cámara con charolas, chimenea o ventilador fotovoltaico (máx. 60 °C para no dañar el producto)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Túnel: carros de charolas + banco de resistencias/quemador + múltiples ventiladores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Fabricable con materiales locales; el control PLC/HMI es lo de mayor costo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Solar: bajo costo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nacional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5A623"/>
                </a:solidFill>
                <a:latin typeface="Calibri"/>
              </a:rPr>
              <a:t>ETAPA 4 · SECO / CONSERVA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Molienda y tamizado (harina de nopal)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mol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Molino de martillos VEYCO (serie MMV / MM)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Moler nopal seco a harina/polvo por impacto y corte, con criba que define la finura.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rotor con 16-120 martillos (inox o acero al carbón), cribas 0.8-12 mm, cámara, tolva, motor 3-30 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MMV06 = 50-300 kg/h (3-5 HP) … MMV40 = 4,000-5,000 kg/h (30-40 HP)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Harina de nopal se vende a ~$70-85 MXN/kg (valor agregado)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Por cotización (según HP)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100% 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tamiz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Tamizado / cernido (TPI México, Russell Finex)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Clasificar la harina por tamaño y retirar la fibra gruesa tras la molienda.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criba circular vibratoria, mallas de acero inox intercambiables, motovibrador, resortes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Cernidores de sobremesa desde ~$2,000-8,000 MXN; industriales por cotización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El motovibrador de calidad puede importarse; el resto es nacional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$2-8k (sobremesa)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Fácil (nacional)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5A623"/>
                </a:solidFill>
                <a:latin typeface="Calibri"/>
              </a:rPr>
              <a:t>ETAPA 4 · SECO / CONSERVA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Despulpado, jugo y valor agregado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despulpad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· CDMX / Edo. Méx.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Despulpadora / extractor (Micron, Equinox, FoxSteel)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Separar pulpa/jugo de la cáscara y la semilla (tuna) o triturar nopal a pulpa.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tolva inox, tambor/criba perforada, paletas o tornillo sinfín/cepillos, motorreductor, chasis inox T-304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Datasheet: 30-400 kg/h (líneas industriales hasta 2,000 kg/h)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Componentes de fabricación nacional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Amplio (cotización)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Fabricación 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va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Proceso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Productos de valor agregado (tuna)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Jugo/néctar, puré/concentrado (67-68 °Brix), mermelada, colorante (betalaínas) y aceite de semilla.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Equipos: despulpadora, refinador, marmita con camisa de vapor, pasteurizador, prensa de aceite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Benchmark de líneas: IBC (China, 1-300 t/día), Enoitalia (Italia, ~1,500 kg/h), Romiter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Marmitas y tanques inox: fabricación nacional; pasteurizador de placas: compra especializada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5A623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Modular (por etapa)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Parcial (marmitas nacional)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ETAPA 5 · EMPAQUE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Envasado, sellado y etiquetado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29844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_dosificad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426464"/>
            <a:ext cx="2286000" cy="1413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318211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 · Nuevo León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0817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Dosificadora de polvo (auger) Equitek + selladora al vacío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Dosificar la harina de nopal (10 g-5 kg) y sellar bolsas al vacío para alargar la vida útil.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4597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4140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Partes: tolva inox + agitador, tornillo dosificador (auger), servo/celda de carga, PLC/HMI, barra selladora, bomba de vacío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73405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68833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Datasheet Equitek DSL: 10 g-5 kg, 1-50 pzas/min, 220 V, aire 90 psi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0083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96265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Estructura y tolva nacionales; servo/celda/bomba de vacío suelen importarse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27355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Selladora $1.5-30k MXN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27355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Parcial (control importado)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716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70332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74136" y="3721608"/>
            <a:ext cx="128016" cy="224942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o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849624"/>
            <a:ext cx="2286000" cy="1413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" y="5605272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●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México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831336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213A"/>
                </a:solidFill>
                <a:latin typeface="Calibri"/>
              </a:rPr>
              <a:t>Empaque de nopal fresco (MAP) y en salmuera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754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Fresco cortado con atmósfera modificada, o nopalitos en salmuera en frasco/bolsa pasteurizados.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8828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2" y="483717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MAP: film barrera + atmósfera O₂ 2-5% / CO₂ 3-10% a 5 °C (inhibe oscurecimiento)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572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511149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Salmuera: marmita, llenadora, tapadora/engargoladora, autoclave o baño 15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4315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5385816"/>
            <a:ext cx="7269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Marmitas y mesas inox nacionales; el film/equipo MAP suele importarse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6967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213A"/>
                </a:solidFill>
                <a:latin typeface="Calibri"/>
              </a:rPr>
              <a:t>Costo: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Modular (cotización)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59" y="5696712"/>
            <a:ext cx="3566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EA84F"/>
                </a:solidFill>
                <a:latin typeface="Calibri"/>
              </a:rPr>
              <a:t>México:  </a:t>
            </a:r>
            <a:r>
              <a:rPr sz="1000" b="0" i="0">
                <a:solidFill>
                  <a:srgbClr val="1A2432"/>
                </a:solidFill>
                <a:latin typeface="Calibri"/>
              </a:rPr>
              <a:t>Fabricable (film importado)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FOCO · RÉPLICA MEXICANA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Componentes y dónde comprarlos en México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80160"/>
            <a:ext cx="10771632" cy="420624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280160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8" y="1280160"/>
            <a:ext cx="5166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Proveedor / distribuidor en México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9448" y="1280160"/>
            <a:ext cx="21305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Marcas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00784"/>
            <a:ext cx="107716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7007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Motores y motorreductores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17007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RORISA, Siemens Motores MX, SEW-Eurodrive MX, Energía Controlada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9448" y="17007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WEG, Siemens, Baldor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157984"/>
            <a:ext cx="10771632" cy="457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1579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Acero inoxidable 304/316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21579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Aceros y Metales Cuautitlán, Integrinox (Mty), Metales de México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1579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lámina / tubo / PTR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615184"/>
            <a:ext cx="107716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6151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Bandas modulares y transportadoras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26151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RYASA, SIMSA, Bandas Matuz, MATEX, Ferromat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6151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Intralox, Ammeraal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072384"/>
            <a:ext cx="10771632" cy="457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0723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Rodamientos, chumaceras, cadenas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0208" y="30723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RYASA, NSK Rodamientos Mexicana, Grupo SURA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0723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SKF, NSK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529584"/>
            <a:ext cx="107716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5295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Cepillos y rodillos a medida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35295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Cepillos Regios, Cepillo Técnico, Cepillos BHM (Apodaca)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5295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nylon / crin / alambre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986784"/>
            <a:ext cx="10771632" cy="457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39867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Variadores (VFD) y PLC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0208" y="39867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IAS Automation (Delta), Industrias GSL, SiemSupply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39867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Delta, Siemens, Allen-Bradley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443984"/>
            <a:ext cx="1077163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4439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Boquillas, bombas inox, resistencias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0208" y="44439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Spraying Systems MX, Barmesa, MISUMI MX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44439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aspersión / centrífugas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901184"/>
            <a:ext cx="10771632" cy="4572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9011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Cuchillas y discos de corte inox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4901184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Adek (Monterrey), Cuchillas México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901184"/>
            <a:ext cx="2130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inox 420 / 440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989320"/>
            <a:ext cx="10771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A84F"/>
                </a:solidFill>
                <a:latin typeface="Calibri"/>
              </a:rPr>
              <a:t>Talleres inox para ensamble a medida:  </a:t>
            </a:r>
            <a:r>
              <a:rPr sz="1050" b="0" i="0">
                <a:solidFill>
                  <a:srgbClr val="5B6674"/>
                </a:solidFill>
                <a:latin typeface="Calibri"/>
              </a:rPr>
              <a:t>Servinox y DESINOX (Jalisco) · INALSA e Inox Proyecta (N.L.) · Dinorte (Coahuila) · Mekanex · VEYCO · Equitek.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FOCO · RÉPLICA MEXICANA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¿Qué fabricar en México y qué comprar?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5349240" cy="4663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5349240" cy="54864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FABRICAR / CONSEGUIR FÁCIL EN MÉXICO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09397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057400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Estructura y cámaras en acero inox 304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51460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478024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Charolas, martillos, cribas, tolvas, tornillos auger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2935224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898648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Rodillos, cuchillas y porta-cuchillas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355848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319272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Resistencias eléctricas y quemadores de gas L.P.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776472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73989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Ventiladores/turbinas y ductos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19709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Motores y motorreductores (WEG, Siemens)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61772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81144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Tinas, marmitas y mesas de selección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5038344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001768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Bandas transportadoras y estructuras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" y="5458968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422392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Tableros eléctricos básicos y timers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1325880"/>
            <a:ext cx="5349240" cy="46634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1325880"/>
            <a:ext cx="5349240" cy="548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132588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COMPRAR A MARCA / IMPORTAR (CONTROL FINO)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4224" y="209397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6" y="2057400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PLC + HMI de gama y controladores PID de precisión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4224" y="251460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2478024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Variadores de frecuencia (VFD) de marca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2935224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2898648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Servomotores con encoder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355848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0256" y="3319272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Celdas de carga para dosificación por peso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4224" y="3776472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3739896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Bombas de vacío para empacadora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4224" y="419709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0256" y="4160520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Motovibradores de calidad (tamizadora)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64224" y="461772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0256" y="4581144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Discos/rejillas de corte de precisión (CNC)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64224" y="5038344"/>
            <a:ext cx="128016" cy="12801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0256" y="5001768"/>
            <a:ext cx="4754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Film y equipo de atmósfera modificada (MAP)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FOCO · RÉPLICA MEXICANA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Fabricar en México vs. importar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10771632" cy="47548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371600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371600"/>
            <a:ext cx="4297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Fabricar en México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371600"/>
            <a:ext cx="35935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Importar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847088"/>
            <a:ext cx="1077163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847088"/>
            <a:ext cx="2295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Costo 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47088"/>
            <a:ext cx="42611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EA84F"/>
                </a:solidFill>
                <a:latin typeface="Calibri"/>
              </a:rPr>
              <a:t>Menor: material + mano de obra + componentes de catálogo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1847088"/>
            <a:ext cx="35570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Mayor: precio + flete + aduana + margen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450592"/>
            <a:ext cx="10771632" cy="6035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450592"/>
            <a:ext cx="2295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Refacciones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450592"/>
            <a:ext cx="42611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EA84F"/>
                </a:solidFill>
                <a:latin typeface="Calibri"/>
              </a:rPr>
              <a:t>Estándar (WEG, SKF, Delta) en stock;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450592"/>
            <a:ext cx="35570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Piezas propietarias; semanas/meses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054096"/>
            <a:ext cx="1077163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054096"/>
            <a:ext cx="2295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Mantenimiento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3054096"/>
            <a:ext cx="42611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EA84F"/>
                </a:solidFill>
                <a:latin typeface="Calibri"/>
              </a:rPr>
              <a:t>Cualquier taller local lo atiende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3054096"/>
            <a:ext cx="35570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Técnico especializado / del fabricante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657600"/>
            <a:ext cx="10771632" cy="6035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657600"/>
            <a:ext cx="2295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Tiempo de entrega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3657600"/>
            <a:ext cx="42611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EA84F"/>
                </a:solidFill>
                <a:latin typeface="Calibri"/>
              </a:rPr>
              <a:t>Semanas (taller local)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3657600"/>
            <a:ext cx="35570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Meses (fabricación + envío + aduana)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261104"/>
            <a:ext cx="1077163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261104"/>
            <a:ext cx="2295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Adaptación al nopal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4261104"/>
            <a:ext cx="42611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EA84F"/>
                </a:solidFill>
                <a:latin typeface="Calibri"/>
              </a:rPr>
              <a:t>Total (ajuste de rodillos/cepillos/cuchillas)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4261104"/>
            <a:ext cx="35570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Diseño genérico, difícil de modificar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4864608"/>
            <a:ext cx="10771632" cy="60350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2295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213A"/>
                </a:solidFill>
                <a:latin typeface="Calibri"/>
              </a:rPr>
              <a:t>Servicio / idioma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4864608"/>
            <a:ext cx="42611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EA84F"/>
                </a:solidFill>
                <a:latin typeface="Calibri"/>
              </a:rPr>
              <a:t>Español, mismo huso, garantía local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864608"/>
            <a:ext cx="35570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B6674"/>
                </a:solidFill>
                <a:latin typeface="Calibri"/>
              </a:rPr>
              <a:t>Barrera de idioma y distancia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ECONOMÍA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Costos de referencia (MXN)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109728" cy="5669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Herramientas de cosecha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325880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A84F"/>
                </a:solidFill>
                <a:latin typeface="Calibri"/>
              </a:rPr>
              <a:t>Bajo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25880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Ferreterías / Mercado Libre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984248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1984248"/>
            <a:ext cx="109728" cy="566928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98424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Desespinadora de nopal (nacional)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984248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8C2D6"/>
                </a:solidFill>
                <a:latin typeface="Calibri"/>
              </a:rPr>
              <a:t>$15,000 - 100,000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984248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Ref. $120k por 500 kg/h (Michoacán)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642616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642616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64261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Deshidratador de charolas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642616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$4,000 - 12,000 (semi)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642616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Industrial ~$100,000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300984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300984"/>
            <a:ext cx="109728" cy="566928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30098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Selladora al vacío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300984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$1,500 - 30,000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300984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Doméstica a comercial de cámara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959352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3959352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9593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Molino de martillos / despulpadora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959352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Por cotización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959352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Según HP y capacidad (VEYCO)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617720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4617720"/>
            <a:ext cx="109728" cy="5669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6177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Nave / planta (obra, por m²)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617720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D6CDF"/>
                </a:solidFill>
                <a:latin typeface="Calibri"/>
              </a:rPr>
              <a:t>$12,000 - 25,000 / m²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617720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Proceso seco vs. húmedo (Grupo CCEIC)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276088"/>
            <a:ext cx="10771632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5276088"/>
            <a:ext cx="109728" cy="566928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27608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13A"/>
                </a:solidFill>
                <a:latin typeface="Calibri"/>
              </a:rPr>
              <a:t>Benchmark IMPORTADO a evitar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5276088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B6674"/>
                </a:solidFill>
                <a:latin typeface="Calibri"/>
              </a:rPr>
              <a:t>desde €12,270 (~US$13k)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276088"/>
            <a:ext cx="2788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5B6674"/>
                </a:solidFill>
                <a:latin typeface="Calibri"/>
              </a:rPr>
              <a:t>Agrilux 300 kg/h; líneas grandes por cotización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61081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5B6674"/>
                </a:solidFill>
                <a:latin typeface="Calibri"/>
              </a:rPr>
              <a:t>Los fabricantes rara vez publican precio de lista; los rangos vienen de portales (QuiMinet/MercadoLibre) y deben confirmarse por cotización.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MARCO NORMATIVO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Normas y aliados para fabricar en México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0771632" cy="10241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17320"/>
            <a:ext cx="109728" cy="10241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6362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NOM-251-SSA1-2009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9384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674"/>
                </a:solidFill>
                <a:latin typeface="Calibri"/>
              </a:rPr>
              <a:t>Prácticas de higiene para el proceso de alimentos (obligatoria): superficies de contacto en acero grado alimenticio, diseño que permita limpieza (sin tornillos/remaches expuestos), mantenimiento del equipo.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87752"/>
            <a:ext cx="10771632" cy="10241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587752"/>
            <a:ext cx="109728" cy="10241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3405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Buenas Prácticas de Manufactura (BPM)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674"/>
                </a:solidFill>
                <a:latin typeface="Calibri"/>
              </a:rPr>
              <a:t>Programas voluntarios de SENASICA (órgano de SADER) para establecimientos que procesan alimentos; útiles para certificación y exportación.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58184"/>
            <a:ext cx="10771632" cy="10241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758184"/>
            <a:ext cx="109728" cy="1024128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0448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Materiales grado alimenticio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7024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674"/>
                </a:solidFill>
                <a:latin typeface="Calibri"/>
              </a:rPr>
              <a:t>Acero inoxidable 304 (contacto) y 316 (medios ácidos/salinos: jugo, salmuera); grasa grado alimenticio en rodamientos.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928616"/>
            <a:ext cx="10771632" cy="10241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928616"/>
            <a:ext cx="109728" cy="10241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Aliados de I+D (academia)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406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B6674"/>
                </a:solidFill>
                <a:latin typeface="Calibri"/>
              </a:rPr>
              <a:t>IPN-UPIITA (desespinadora de tuna), UNAM (deshidratado solar) y UACh (jugo estabilizado) desarrollan tecnología nacional; posibles socios para diseño de la réplica.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Ruta recomendada para la réplica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B6674"/>
                </a:solidFill>
                <a:latin typeface="Calibri"/>
              </a:rPr>
              <a:t>De lo simple a lo industrial: primero el núcleo de bajo costo, después la transformación según el producto elegido.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65960"/>
            <a:ext cx="2606040" cy="37947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65960"/>
            <a:ext cx="2606040" cy="86868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Diseño + BOM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9981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06324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Definir producto: fresco, salmuera, harina o jugo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2277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88620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Lista de materiales (BOM) con proveedores MX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457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45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70916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Elegir taller inox local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83864" y="1965960"/>
            <a:ext cx="2606040" cy="37947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3864" y="1965960"/>
            <a:ext cx="2606040" cy="86868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207568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237744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Núcleo de limpieza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85032" y="309981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2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8" y="306324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Desespinadora + lavadora nacional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85032" y="392277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388620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Mesa de selección y banda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5032" y="47457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4745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70916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Cumplir higiene NOM-251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1965960"/>
            <a:ext cx="2606040" cy="37947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1965960"/>
            <a:ext cx="2606040" cy="8686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207568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237744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Transformación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55664" y="309981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06324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Corte + escaldado (fresco/salmuera)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55664" y="392277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5664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88620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o Deshidratado + molino (harina)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55664" y="47457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5664" y="4745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70916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o Despulpadora (jugo)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25128" y="1965960"/>
            <a:ext cx="2606040" cy="37947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5128" y="1965960"/>
            <a:ext cx="2606040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26296" y="207568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6296" y="237744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Empaque + escala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26296" y="309981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6296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28632" y="306324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Dosificado / sellado / etiquetado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26296" y="392277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26296" y="39227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28632" y="388620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Control fino (PLC, celda, vacío)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26296" y="474573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26296" y="4745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8632" y="470916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Certificar BPM y escalar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28416" y="3520440"/>
            <a:ext cx="164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5B6674"/>
                </a:solidFill>
                <a:latin typeface="Calibri"/>
              </a:rPr>
              <a:t>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9048" y="3520440"/>
            <a:ext cx="164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5B6674"/>
                </a:solidFill>
                <a:latin typeface="Calibri"/>
              </a:rPr>
              <a:t>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3520440"/>
            <a:ext cx="164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5B6674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Fabricantes y fuentes consultadas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EA84F"/>
                </a:solidFill>
                <a:latin typeface="Calibri"/>
              </a:rPr>
              <a:t>FABRICANTES MEXICANOS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8249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Nopalea / Nopalli (N.L.) — desespinadora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121408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8483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DESINOX (Jalisco) — línea de 4 equipos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56032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23744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INALSA (N.L.) — picadora PN-27/54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999232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6265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VEYCO — molinos de martillos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38144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401568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MT Maquinaria (Puebla) — deshidratador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7705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8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Tecnodac / Solifood / Citrus — lavado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315968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7939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Equitek (N.L.) — envasadoras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75488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718304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Servinox / Dinorte / Mekanex — talleres inox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2801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REFERENCIAS TÉCNICAS Y PORTALES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68249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1645920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Patente MX WO2005011941A1 (desespinadora)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121408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208483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IPN-UPIITA / UNAM Ecotec (deshidratado, tuna)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56032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2523744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FAO — Utilización agroindustrial del nopal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999232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2962656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INIFAP — manual de nopal verdura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438144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401568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NOM-251-SSA1-2009 (DOF) — higiene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877056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840480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QuiMinet / Cosmos / Mercado Libre (precios)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315968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8816" y="427939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Benchmark: Agrilux (ES), IBC/Romiter (China), Enoitalia (IT)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754880"/>
            <a:ext cx="128016" cy="12801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718304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432"/>
                </a:solidFill>
                <a:latin typeface="Calibri"/>
              </a:rPr>
              <a:t>SIAP — producción nacional de nopal y tuna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943600"/>
            <a:ext cx="10771632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94360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6CDF"/>
                </a:solidFill>
                <a:latin typeface="Calibri"/>
              </a:rPr>
              <a:t>Nota: </a:t>
            </a:r>
            <a:r>
              <a:rPr sz="1050" b="0" i="0">
                <a:solidFill>
                  <a:srgbClr val="5B6674"/>
                </a:solidFill>
                <a:latin typeface="Calibri"/>
              </a:rPr>
              <a:t>los precios de portales varían por capacidad y plaza; confirmar por cotización directa con cada fabricante.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82296" cy="457200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A84F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0E213A"/>
                </a:solidFill>
                <a:latin typeface="Calibri"/>
              </a:rPr>
              <a:t>Hallazgos clave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Maquinaria del nopal — réplica mexicana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99032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Oportunidad de sustitución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46504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México es el productor #1 pero importa la maquinaria más completa: hay espacio para fabricar nacional.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5000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500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3172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La réplica es viable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79192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El 80-90% de cada máquina son componentes de catálogo + estructura de acero inox de taller local.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28269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826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6440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Ya hay industria nacional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1188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Nopalea, DESINOX, INALSA, VEYCO, Tecnodac y Equitek prueban que se puede fabricar en México.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2153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2153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97096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Solo importar lo fino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544568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Corte de precisión (CNC) y control (PLC/servo/celdas/vacío) ameritan compra especializada.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1480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1480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129784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213A"/>
                </a:solidFill>
                <a:latin typeface="Calibri"/>
              </a:rPr>
              <a:t>Ventaja competitiva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77256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Refacciones inmediatas, adaptación a la variedad local del nopal y menor costo total de propiedad.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C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49240" y="214884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214884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6324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Hecho en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862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C6D3E6"/>
                </a:solidFill>
                <a:latin typeface="Calibri"/>
              </a:rPr>
              <a:t>Del cladodio al empaque: maquinaria de nopal replicable con talento y componentes nacionales.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Howy</a:t>
            </a:r>
            <a:r>
              <a:rPr sz="1200" b="0" i="0">
                <a:solidFill>
                  <a:srgbClr val="9FB2CD"/>
                </a:solidFill>
                <a:latin typeface="Calibri"/>
              </a:rPr>
              <a:t>   ·   Investigación técnica   ·   Julio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